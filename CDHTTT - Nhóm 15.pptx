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Poppins Bold" charset="1" panose="00000800000000000000"/>
      <p:regular r:id="rId27"/>
    </p:embeddedFont>
    <p:embeddedFont>
      <p:font typeface="Garet Bold" charset="1" panose="00000000000000000000"/>
      <p:regular r:id="rId28"/>
    </p:embeddedFont>
    <p:embeddedFont>
      <p:font typeface="Poppins" charset="1" panose="000005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gif"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3.png" Type="http://schemas.openxmlformats.org/officeDocument/2006/relationships/image"/><Relationship Id="rId4"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8.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3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3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3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4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4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2.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rcRect l="0" t="0" r="0" b="0"/>
          <a:stretch>
            <a:fillRect/>
          </a:stretch>
        </p:blipFill>
        <p:spPr>
          <a:xfrm flipH="false" flipV="false" rot="0">
            <a:off x="-255985" y="-2180105"/>
            <a:ext cx="9400859" cy="5264481"/>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10074027" y="-2489822"/>
            <a:ext cx="9400859" cy="5264481"/>
          </a:xfrm>
          <a:prstGeom prst="rect">
            <a:avLst/>
          </a:prstGeom>
        </p:spPr>
      </p:pic>
      <p:pic>
        <p:nvPicPr>
          <p:cNvPr name="Picture 5" id="5"/>
          <p:cNvPicPr>
            <a:picLocks noChangeAspect="true"/>
          </p:cNvPicPr>
          <p:nvPr/>
        </p:nvPicPr>
        <p:blipFill>
          <a:blip r:embed="rId3"/>
          <a:srcRect l="0" t="0" r="0" b="0"/>
          <a:stretch>
            <a:fillRect/>
          </a:stretch>
        </p:blipFill>
        <p:spPr>
          <a:xfrm flipH="false" flipV="false" rot="-10798857">
            <a:off x="9144000" y="7201062"/>
            <a:ext cx="9400859" cy="5264481"/>
          </a:xfrm>
          <a:prstGeom prst="rect">
            <a:avLst/>
          </a:prstGeom>
        </p:spPr>
      </p:pic>
      <p:pic>
        <p:nvPicPr>
          <p:cNvPr name="Picture 6" id="6"/>
          <p:cNvPicPr>
            <a:picLocks noChangeAspect="true"/>
          </p:cNvPicPr>
          <p:nvPr/>
        </p:nvPicPr>
        <p:blipFill>
          <a:blip r:embed="rId3"/>
          <a:srcRect l="0" t="0" r="0" b="0"/>
          <a:stretch>
            <a:fillRect/>
          </a:stretch>
        </p:blipFill>
        <p:spPr>
          <a:xfrm flipH="false" flipV="false" rot="-10798857">
            <a:off x="-256859" y="7197939"/>
            <a:ext cx="9400859" cy="5264481"/>
          </a:xfrm>
          <a:prstGeom prst="rect">
            <a:avLst/>
          </a:prstGeom>
        </p:spPr>
      </p:pic>
      <p:sp>
        <p:nvSpPr>
          <p:cNvPr name="Freeform 7" id="7"/>
          <p:cNvSpPr/>
          <p:nvPr/>
        </p:nvSpPr>
        <p:spPr>
          <a:xfrm flipH="false" flipV="false" rot="0">
            <a:off x="4180437" y="3069378"/>
            <a:ext cx="9925377" cy="2779106"/>
          </a:xfrm>
          <a:custGeom>
            <a:avLst/>
            <a:gdLst/>
            <a:ahLst/>
            <a:cxnLst/>
            <a:rect r="r" b="b" t="t" l="l"/>
            <a:pathLst>
              <a:path h="2779106" w="9925377">
                <a:moveTo>
                  <a:pt x="0" y="0"/>
                </a:moveTo>
                <a:lnTo>
                  <a:pt x="9925377" y="0"/>
                </a:lnTo>
                <a:lnTo>
                  <a:pt x="9925377" y="2779106"/>
                </a:lnTo>
                <a:lnTo>
                  <a:pt x="0" y="2779106"/>
                </a:lnTo>
                <a:lnTo>
                  <a:pt x="0" y="0"/>
                </a:lnTo>
                <a:close/>
              </a:path>
            </a:pathLst>
          </a:custGeom>
          <a:blipFill>
            <a:blip r:embed="rId4"/>
            <a:stretch>
              <a:fillRect l="0" t="0" r="0" b="0"/>
            </a:stretch>
          </a:blipFill>
          <a:ln cap="sq">
            <a:noFill/>
            <a:prstDash val="lgDash"/>
            <a:miter/>
          </a:ln>
        </p:spPr>
      </p:sp>
      <p:sp>
        <p:nvSpPr>
          <p:cNvPr name="TextBox 8" id="8"/>
          <p:cNvSpPr txBox="true"/>
          <p:nvPr/>
        </p:nvSpPr>
        <p:spPr>
          <a:xfrm rot="0">
            <a:off x="5908084" y="7442654"/>
            <a:ext cx="6470083" cy="827037"/>
          </a:xfrm>
          <a:prstGeom prst="rect">
            <a:avLst/>
          </a:prstGeom>
        </p:spPr>
        <p:txBody>
          <a:bodyPr anchor="t" rtlCol="false" tIns="0" lIns="0" bIns="0" rIns="0">
            <a:spAutoFit/>
          </a:bodyPr>
          <a:lstStyle/>
          <a:p>
            <a:pPr algn="ctr">
              <a:lnSpc>
                <a:spcPts val="6390"/>
              </a:lnSpc>
            </a:pPr>
            <a:r>
              <a:rPr lang="en-US" sz="4564" b="true">
                <a:solidFill>
                  <a:srgbClr val="FFFFFF"/>
                </a:solidFill>
                <a:latin typeface="Poppins Bold"/>
                <a:ea typeface="Poppins Bold"/>
                <a:cs typeface="Poppins Bold"/>
                <a:sym typeface="Poppins Bold"/>
              </a:rPr>
              <a:t>Nhóm 11</a:t>
            </a:r>
          </a:p>
        </p:txBody>
      </p:sp>
      <p:sp>
        <p:nvSpPr>
          <p:cNvPr name="TextBox 9" id="9"/>
          <p:cNvSpPr txBox="true"/>
          <p:nvPr/>
        </p:nvSpPr>
        <p:spPr>
          <a:xfrm rot="0">
            <a:off x="2819494" y="904875"/>
            <a:ext cx="12647262" cy="816610"/>
          </a:xfrm>
          <a:prstGeom prst="rect">
            <a:avLst/>
          </a:prstGeom>
        </p:spPr>
        <p:txBody>
          <a:bodyPr anchor="t" rtlCol="false" tIns="0" lIns="0" bIns="0" rIns="0">
            <a:spAutoFit/>
          </a:bodyPr>
          <a:lstStyle/>
          <a:p>
            <a:pPr algn="ctr">
              <a:lnSpc>
                <a:spcPts val="6439"/>
              </a:lnSpc>
            </a:pPr>
            <a:r>
              <a:rPr lang="en-US" b="true" sz="4599">
                <a:solidFill>
                  <a:srgbClr val="FFFFFF"/>
                </a:solidFill>
                <a:latin typeface="Poppins Bold"/>
                <a:ea typeface="Poppins Bold"/>
                <a:cs typeface="Poppins Bold"/>
                <a:sym typeface="Poppins Bold"/>
              </a:rPr>
              <a:t>PHÁT TRIỂN HỆ THỐNG THÔNG TIN QUẢN LÝ</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0A26">
                <a:alpha val="100000"/>
              </a:srgbClr>
            </a:gs>
            <a:gs pos="100000">
              <a:srgbClr val="10061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4239082" y="-28122"/>
            <a:ext cx="4665492" cy="4114800"/>
          </a:xfrm>
          <a:custGeom>
            <a:avLst/>
            <a:gdLst/>
            <a:ahLst/>
            <a:cxnLst/>
            <a:rect r="r" b="b" t="t" l="l"/>
            <a:pathLst>
              <a:path h="4114800" w="4665492">
                <a:moveTo>
                  <a:pt x="0" y="0"/>
                </a:moveTo>
                <a:lnTo>
                  <a:pt x="4665492" y="0"/>
                </a:lnTo>
                <a:lnTo>
                  <a:pt x="46654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034003" y="6324081"/>
            <a:ext cx="4665492" cy="4114800"/>
          </a:xfrm>
          <a:custGeom>
            <a:avLst/>
            <a:gdLst/>
            <a:ahLst/>
            <a:cxnLst/>
            <a:rect r="r" b="b" t="t" l="l"/>
            <a:pathLst>
              <a:path h="4114800" w="4665492">
                <a:moveTo>
                  <a:pt x="4665493" y="4114800"/>
                </a:moveTo>
                <a:lnTo>
                  <a:pt x="0" y="4114800"/>
                </a:lnTo>
                <a:lnTo>
                  <a:pt x="0" y="0"/>
                </a:lnTo>
                <a:lnTo>
                  <a:pt x="4665493" y="0"/>
                </a:lnTo>
                <a:lnTo>
                  <a:pt x="4665493"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37410">
            <a:off x="10307289" y="8895973"/>
            <a:ext cx="3773056" cy="1536663"/>
          </a:xfrm>
          <a:custGeom>
            <a:avLst/>
            <a:gdLst/>
            <a:ahLst/>
            <a:cxnLst/>
            <a:rect r="r" b="b" t="t" l="l"/>
            <a:pathLst>
              <a:path h="1536663" w="3773056">
                <a:moveTo>
                  <a:pt x="0" y="0"/>
                </a:moveTo>
                <a:lnTo>
                  <a:pt x="3773056" y="0"/>
                </a:lnTo>
                <a:lnTo>
                  <a:pt x="3773056" y="1536663"/>
                </a:lnTo>
                <a:lnTo>
                  <a:pt x="0" y="15366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46998" y="8717738"/>
            <a:ext cx="3475862" cy="2009680"/>
          </a:xfrm>
          <a:custGeom>
            <a:avLst/>
            <a:gdLst/>
            <a:ahLst/>
            <a:cxnLst/>
            <a:rect r="r" b="b" t="t" l="l"/>
            <a:pathLst>
              <a:path h="2009680" w="3475862">
                <a:moveTo>
                  <a:pt x="0" y="0"/>
                </a:moveTo>
                <a:lnTo>
                  <a:pt x="3475862" y="0"/>
                </a:lnTo>
                <a:lnTo>
                  <a:pt x="3475862" y="2009680"/>
                </a:lnTo>
                <a:lnTo>
                  <a:pt x="0" y="2009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9827390">
            <a:off x="4328644" y="-868197"/>
            <a:ext cx="2907157" cy="3032236"/>
          </a:xfrm>
          <a:custGeom>
            <a:avLst/>
            <a:gdLst/>
            <a:ahLst/>
            <a:cxnLst/>
            <a:rect r="r" b="b" t="t" l="l"/>
            <a:pathLst>
              <a:path h="3032236" w="2907157">
                <a:moveTo>
                  <a:pt x="0" y="0"/>
                </a:moveTo>
                <a:lnTo>
                  <a:pt x="2907156" y="0"/>
                </a:lnTo>
                <a:lnTo>
                  <a:pt x="2907156" y="3032236"/>
                </a:lnTo>
                <a:lnTo>
                  <a:pt x="0" y="3032236"/>
                </a:lnTo>
                <a:lnTo>
                  <a:pt x="0" y="0"/>
                </a:lnTo>
                <a:close/>
              </a:path>
            </a:pathLst>
          </a:custGeom>
          <a:blipFill>
            <a:blip r:embed="rId8"/>
            <a:stretch>
              <a:fillRect l="0" t="0" r="0" b="0"/>
            </a:stretch>
          </a:blipFill>
        </p:spPr>
      </p:sp>
      <p:sp>
        <p:nvSpPr>
          <p:cNvPr name="Freeform 7" id="7"/>
          <p:cNvSpPr/>
          <p:nvPr/>
        </p:nvSpPr>
        <p:spPr>
          <a:xfrm flipH="false" flipV="false" rot="-1337395">
            <a:off x="16022390" y="2022670"/>
            <a:ext cx="2876227" cy="3001755"/>
          </a:xfrm>
          <a:custGeom>
            <a:avLst/>
            <a:gdLst/>
            <a:ahLst/>
            <a:cxnLst/>
            <a:rect r="r" b="b" t="t" l="l"/>
            <a:pathLst>
              <a:path h="3001755" w="2876227">
                <a:moveTo>
                  <a:pt x="0" y="0"/>
                </a:moveTo>
                <a:lnTo>
                  <a:pt x="2876227" y="0"/>
                </a:lnTo>
                <a:lnTo>
                  <a:pt x="2876227" y="3001755"/>
                </a:lnTo>
                <a:lnTo>
                  <a:pt x="0" y="30017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4306059" y="4132156"/>
            <a:ext cx="9675881" cy="979961"/>
          </a:xfrm>
          <a:prstGeom prst="rect">
            <a:avLst/>
          </a:prstGeom>
        </p:spPr>
        <p:txBody>
          <a:bodyPr anchor="t" rtlCol="false" tIns="0" lIns="0" bIns="0" rIns="0">
            <a:spAutoFit/>
          </a:bodyPr>
          <a:lstStyle/>
          <a:p>
            <a:pPr algn="ctr">
              <a:lnSpc>
                <a:spcPts val="7395"/>
              </a:lnSpc>
            </a:pPr>
            <a:r>
              <a:rPr lang="en-US" b="true" sz="7322">
                <a:solidFill>
                  <a:srgbClr val="FFFFFF"/>
                </a:solidFill>
                <a:latin typeface="Garet Bold"/>
                <a:ea typeface="Garet Bold"/>
                <a:cs typeface="Garet Bold"/>
                <a:sym typeface="Garet Bold"/>
              </a:rPr>
              <a:t>GIỚI THIỆU YOLO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0" r="0" b="-25777"/>
            </a:stretch>
          </a:blipFill>
        </p:spPr>
      </p:sp>
      <p:sp>
        <p:nvSpPr>
          <p:cNvPr name="Freeform 3" id="3"/>
          <p:cNvSpPr/>
          <p:nvPr/>
        </p:nvSpPr>
        <p:spPr>
          <a:xfrm flipH="false" flipV="false" rot="0">
            <a:off x="12108370" y="6289606"/>
            <a:ext cx="5852880" cy="1638806"/>
          </a:xfrm>
          <a:custGeom>
            <a:avLst/>
            <a:gdLst/>
            <a:ahLst/>
            <a:cxnLst/>
            <a:rect r="r" b="b" t="t" l="l"/>
            <a:pathLst>
              <a:path h="1638806" w="5852880">
                <a:moveTo>
                  <a:pt x="0" y="0"/>
                </a:moveTo>
                <a:lnTo>
                  <a:pt x="5852880" y="0"/>
                </a:lnTo>
                <a:lnTo>
                  <a:pt x="5852880" y="1638806"/>
                </a:lnTo>
                <a:lnTo>
                  <a:pt x="0" y="1638806"/>
                </a:lnTo>
                <a:lnTo>
                  <a:pt x="0" y="0"/>
                </a:lnTo>
                <a:close/>
              </a:path>
            </a:pathLst>
          </a:custGeom>
          <a:blipFill>
            <a:blip r:embed="rId3"/>
            <a:stretch>
              <a:fillRect l="0" t="0" r="0" b="0"/>
            </a:stretch>
          </a:blipFill>
        </p:spPr>
      </p:sp>
      <p:sp>
        <p:nvSpPr>
          <p:cNvPr name="TextBox 4" id="4"/>
          <p:cNvSpPr txBox="true"/>
          <p:nvPr/>
        </p:nvSpPr>
        <p:spPr>
          <a:xfrm rot="0">
            <a:off x="1240497" y="2277924"/>
            <a:ext cx="10657393" cy="6102237"/>
          </a:xfrm>
          <a:prstGeom prst="rect">
            <a:avLst/>
          </a:prstGeom>
        </p:spPr>
        <p:txBody>
          <a:bodyPr anchor="t" rtlCol="false" tIns="0" lIns="0" bIns="0" rIns="0">
            <a:spAutoFit/>
          </a:bodyPr>
          <a:lstStyle/>
          <a:p>
            <a:pPr algn="just">
              <a:lnSpc>
                <a:spcPts val="4869"/>
              </a:lnSpc>
            </a:pPr>
            <a:r>
              <a:rPr lang="en-US" sz="3478">
                <a:solidFill>
                  <a:srgbClr val="FFFFFF"/>
                </a:solidFill>
                <a:latin typeface="Poppins"/>
                <a:ea typeface="Poppins"/>
                <a:cs typeface="Poppins"/>
                <a:sym typeface="Poppins"/>
              </a:rPr>
              <a:t>YOLO là thuật toán phát hiện đối tượng. Mô hình này không chỉ dự báo </a:t>
            </a:r>
            <a:r>
              <a:rPr lang="en-US" sz="3478" b="true">
                <a:solidFill>
                  <a:srgbClr val="FFFFFF"/>
                </a:solidFill>
                <a:latin typeface="Poppins Bold"/>
                <a:ea typeface="Poppins Bold"/>
                <a:cs typeface="Poppins Bold"/>
                <a:sym typeface="Poppins Bold"/>
              </a:rPr>
              <a:t>nhãn</a:t>
            </a:r>
            <a:r>
              <a:rPr lang="en-US" sz="3478">
                <a:solidFill>
                  <a:srgbClr val="FFFFFF"/>
                </a:solidFill>
                <a:latin typeface="Poppins"/>
                <a:ea typeface="Poppins"/>
                <a:cs typeface="Poppins"/>
                <a:sym typeface="Poppins"/>
              </a:rPr>
              <a:t> như các bài toán phân loại. Mà nó còn xác định </a:t>
            </a:r>
            <a:r>
              <a:rPr lang="en-US" sz="3478" b="true">
                <a:solidFill>
                  <a:srgbClr val="FFFFFF"/>
                </a:solidFill>
                <a:latin typeface="Poppins Bold"/>
                <a:ea typeface="Poppins Bold"/>
                <a:cs typeface="Poppins Bold"/>
                <a:sym typeface="Poppins Bold"/>
              </a:rPr>
              <a:t>vị trí</a:t>
            </a:r>
            <a:r>
              <a:rPr lang="en-US" sz="3478">
                <a:solidFill>
                  <a:srgbClr val="FFFFFF"/>
                </a:solidFill>
                <a:latin typeface="Poppins"/>
                <a:ea typeface="Poppins"/>
                <a:cs typeface="Poppins"/>
                <a:sym typeface="Poppins"/>
              </a:rPr>
              <a:t> của vật thể. </a:t>
            </a:r>
          </a:p>
          <a:p>
            <a:pPr algn="just">
              <a:lnSpc>
                <a:spcPts val="4869"/>
              </a:lnSpc>
            </a:pPr>
            <a:r>
              <a:rPr lang="en-US" sz="3478">
                <a:solidFill>
                  <a:srgbClr val="FFFFFF"/>
                </a:solidFill>
                <a:latin typeface="Poppins"/>
                <a:ea typeface="Poppins"/>
                <a:cs typeface="Poppins"/>
                <a:sym typeface="Poppins"/>
              </a:rPr>
              <a:t>Do đó YOLO có thể phát hiện được </a:t>
            </a:r>
            <a:r>
              <a:rPr lang="en-US" sz="3478" b="true">
                <a:solidFill>
                  <a:srgbClr val="FFFFFF"/>
                </a:solidFill>
                <a:latin typeface="Poppins Bold"/>
                <a:ea typeface="Poppins Bold"/>
                <a:cs typeface="Poppins Bold"/>
                <a:sym typeface="Poppins Bold"/>
              </a:rPr>
              <a:t>nhiều vật thể có nhãn khác nhau</a:t>
            </a:r>
            <a:r>
              <a:rPr lang="en-US" sz="3478">
                <a:solidFill>
                  <a:srgbClr val="FFFFFF"/>
                </a:solidFill>
                <a:latin typeface="Poppins"/>
                <a:ea typeface="Poppins"/>
                <a:cs typeface="Poppins"/>
                <a:sym typeface="Poppins"/>
              </a:rPr>
              <a:t> trong một bức ảnh thay vì chỉ phân loại duy nhất một nhãn cho một bức ảnh. </a:t>
            </a:r>
          </a:p>
          <a:p>
            <a:pPr algn="just">
              <a:lnSpc>
                <a:spcPts val="4869"/>
              </a:lnSpc>
            </a:pPr>
          </a:p>
          <a:p>
            <a:pPr algn="l">
              <a:lnSpc>
                <a:spcPts val="4869"/>
              </a:lnSpc>
            </a:pPr>
            <a:r>
              <a:rPr lang="en-US" sz="3478">
                <a:solidFill>
                  <a:srgbClr val="FFFFFF"/>
                </a:solidFill>
                <a:latin typeface="Poppins"/>
                <a:ea typeface="Poppins"/>
                <a:cs typeface="Poppins"/>
                <a:sym typeface="Poppins"/>
              </a:rPr>
              <a:t>Các phiên bản YOLO: YOLOv1, YOLOv2, YOLOv3, ... YOLOv8,...,YOLOv11</a:t>
            </a:r>
          </a:p>
        </p:txBody>
      </p:sp>
      <p:sp>
        <p:nvSpPr>
          <p:cNvPr name="Freeform 5" id="5"/>
          <p:cNvSpPr/>
          <p:nvPr/>
        </p:nvSpPr>
        <p:spPr>
          <a:xfrm flipH="false" flipV="false" rot="0">
            <a:off x="12539082" y="1586573"/>
            <a:ext cx="4991456" cy="4991456"/>
          </a:xfrm>
          <a:custGeom>
            <a:avLst/>
            <a:gdLst/>
            <a:ahLst/>
            <a:cxnLst/>
            <a:rect r="r" b="b" t="t" l="l"/>
            <a:pathLst>
              <a:path h="4991456" w="4991456">
                <a:moveTo>
                  <a:pt x="0" y="0"/>
                </a:moveTo>
                <a:lnTo>
                  <a:pt x="4991456" y="0"/>
                </a:lnTo>
                <a:lnTo>
                  <a:pt x="4991456" y="4991455"/>
                </a:lnTo>
                <a:lnTo>
                  <a:pt x="0" y="4991455"/>
                </a:lnTo>
                <a:lnTo>
                  <a:pt x="0" y="0"/>
                </a:lnTo>
                <a:close/>
              </a:path>
            </a:pathLst>
          </a:custGeom>
          <a:blipFill>
            <a:blip r:embed="rId4"/>
            <a:stretch>
              <a:fillRect l="0" t="0" r="0" b="0"/>
            </a:stretch>
          </a:blipFill>
        </p:spPr>
      </p:sp>
      <p:sp>
        <p:nvSpPr>
          <p:cNvPr name="TextBox 6" id="6"/>
          <p:cNvSpPr txBox="true"/>
          <p:nvPr/>
        </p:nvSpPr>
        <p:spPr>
          <a:xfrm rot="0">
            <a:off x="453510" y="1114425"/>
            <a:ext cx="7831404" cy="673067"/>
          </a:xfrm>
          <a:prstGeom prst="rect">
            <a:avLst/>
          </a:prstGeom>
        </p:spPr>
        <p:txBody>
          <a:bodyPr anchor="t" rtlCol="false" tIns="0" lIns="0" bIns="0" rIns="0">
            <a:spAutoFit/>
          </a:bodyPr>
          <a:lstStyle/>
          <a:p>
            <a:pPr algn="l" marL="1079501" indent="-539750" lvl="1">
              <a:lnSpc>
                <a:spcPts val="5050"/>
              </a:lnSpc>
              <a:buAutoNum type="arabicPeriod" startAt="1"/>
            </a:pPr>
            <a:r>
              <a:rPr lang="en-US" b="true" sz="5000">
                <a:solidFill>
                  <a:srgbClr val="FFFFFF"/>
                </a:solidFill>
                <a:latin typeface="Garet Bold"/>
                <a:ea typeface="Garet Bold"/>
                <a:cs typeface="Garet Bold"/>
                <a:sym typeface="Garet Bold"/>
              </a:rPr>
              <a:t>YOLO là gì</a:t>
            </a:r>
          </a:p>
        </p:txBody>
      </p:sp>
      <p:sp>
        <p:nvSpPr>
          <p:cNvPr name="TextBox 7" id="7"/>
          <p:cNvSpPr txBox="true"/>
          <p:nvPr/>
        </p:nvSpPr>
        <p:spPr>
          <a:xfrm rot="0">
            <a:off x="15938341" y="8932545"/>
            <a:ext cx="1306653" cy="325788"/>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0" r="0" b="-25777"/>
            </a:stretch>
          </a:blipFill>
        </p:spPr>
      </p:sp>
      <p:sp>
        <p:nvSpPr>
          <p:cNvPr name="Freeform 3" id="3"/>
          <p:cNvSpPr/>
          <p:nvPr/>
        </p:nvSpPr>
        <p:spPr>
          <a:xfrm flipH="false" flipV="false" rot="0">
            <a:off x="7065414" y="2290960"/>
            <a:ext cx="10392511" cy="5945796"/>
          </a:xfrm>
          <a:custGeom>
            <a:avLst/>
            <a:gdLst/>
            <a:ahLst/>
            <a:cxnLst/>
            <a:rect r="r" b="b" t="t" l="l"/>
            <a:pathLst>
              <a:path h="5945796" w="10392511">
                <a:moveTo>
                  <a:pt x="0" y="0"/>
                </a:moveTo>
                <a:lnTo>
                  <a:pt x="10392511" y="0"/>
                </a:lnTo>
                <a:lnTo>
                  <a:pt x="10392511" y="5945797"/>
                </a:lnTo>
                <a:lnTo>
                  <a:pt x="0" y="5945797"/>
                </a:lnTo>
                <a:lnTo>
                  <a:pt x="0" y="0"/>
                </a:lnTo>
                <a:close/>
              </a:path>
            </a:pathLst>
          </a:custGeom>
          <a:blipFill>
            <a:blip r:embed="rId3"/>
            <a:stretch>
              <a:fillRect l="0" t="0" r="0" b="0"/>
            </a:stretch>
          </a:blipFill>
        </p:spPr>
      </p:sp>
      <p:sp>
        <p:nvSpPr>
          <p:cNvPr name="TextBox 4" id="4"/>
          <p:cNvSpPr txBox="true"/>
          <p:nvPr/>
        </p:nvSpPr>
        <p:spPr>
          <a:xfrm rot="0">
            <a:off x="1292938" y="2214760"/>
            <a:ext cx="4938059" cy="5176472"/>
          </a:xfrm>
          <a:prstGeom prst="rect">
            <a:avLst/>
          </a:prstGeom>
        </p:spPr>
        <p:txBody>
          <a:bodyPr anchor="t" rtlCol="false" tIns="0" lIns="0" bIns="0" rIns="0">
            <a:spAutoFit/>
          </a:bodyPr>
          <a:lstStyle/>
          <a:p>
            <a:pPr algn="just">
              <a:lnSpc>
                <a:spcPts val="3753"/>
              </a:lnSpc>
            </a:pPr>
            <a:r>
              <a:rPr lang="en-US" sz="2681">
                <a:solidFill>
                  <a:srgbClr val="FFFFFF"/>
                </a:solidFill>
                <a:latin typeface="Poppins"/>
                <a:ea typeface="Poppins"/>
                <a:cs typeface="Poppins"/>
                <a:sym typeface="Poppins"/>
              </a:rPr>
              <a:t>  YOLO chia ả</a:t>
            </a:r>
            <a:r>
              <a:rPr lang="en-US" sz="2681">
                <a:solidFill>
                  <a:srgbClr val="FFFFFF"/>
                </a:solidFill>
                <a:latin typeface="Poppins"/>
                <a:ea typeface="Poppins"/>
                <a:cs typeface="Poppins"/>
                <a:sym typeface="Poppins"/>
              </a:rPr>
              <a:t>nh</a:t>
            </a:r>
            <a:r>
              <a:rPr lang="en-US" sz="2681">
                <a:solidFill>
                  <a:srgbClr val="FFFFFF"/>
                </a:solidFill>
                <a:latin typeface="Poppins"/>
                <a:ea typeface="Poppins"/>
                <a:cs typeface="Poppins"/>
                <a:sym typeface="Poppins"/>
              </a:rPr>
              <a:t> đầu vào thành một lưới.</a:t>
            </a:r>
          </a:p>
          <a:p>
            <a:pPr algn="just">
              <a:lnSpc>
                <a:spcPts val="3753"/>
              </a:lnSpc>
            </a:pPr>
            <a:r>
              <a:rPr lang="en-US" sz="2681">
                <a:solidFill>
                  <a:srgbClr val="FFFFFF"/>
                </a:solidFill>
                <a:latin typeface="Poppins"/>
                <a:ea typeface="Poppins"/>
                <a:cs typeface="Poppins"/>
                <a:sym typeface="Poppins"/>
              </a:rPr>
              <a:t>    Sau đó dự đoán trực tiếp từ ô (cell) được chia là thuộc loại nào.</a:t>
            </a:r>
          </a:p>
          <a:p>
            <a:pPr algn="just">
              <a:lnSpc>
                <a:spcPts val="3753"/>
              </a:lnSpc>
            </a:pPr>
            <a:r>
              <a:rPr lang="en-US" sz="2681">
                <a:solidFill>
                  <a:srgbClr val="FFFFFF"/>
                </a:solidFill>
                <a:latin typeface="Poppins"/>
                <a:ea typeface="Poppins"/>
                <a:cs typeface="Poppins"/>
                <a:sym typeface="Poppins"/>
              </a:rPr>
              <a:t>    Dự đoán tiếp các box lấy tâm là cell đó.</a:t>
            </a:r>
          </a:p>
          <a:p>
            <a:pPr algn="just">
              <a:lnSpc>
                <a:spcPts val="3753"/>
              </a:lnSpc>
            </a:pPr>
            <a:r>
              <a:rPr lang="en-US" sz="2681">
                <a:solidFill>
                  <a:srgbClr val="FFFFFF"/>
                </a:solidFill>
                <a:latin typeface="Poppins"/>
                <a:ea typeface="Poppins"/>
                <a:cs typeface="Poppins"/>
                <a:sym typeface="Poppins"/>
              </a:rPr>
              <a:t>      Từ 2 yếu tố trên kết hợp lại để suy ra bouding box và class của đối tượng.</a:t>
            </a:r>
          </a:p>
          <a:p>
            <a:pPr algn="l">
              <a:lnSpc>
                <a:spcPts val="3753"/>
              </a:lnSpc>
            </a:pPr>
          </a:p>
        </p:txBody>
      </p:sp>
      <p:sp>
        <p:nvSpPr>
          <p:cNvPr name="TextBox 5" id="5"/>
          <p:cNvSpPr txBox="true"/>
          <p:nvPr/>
        </p:nvSpPr>
        <p:spPr>
          <a:xfrm rot="0">
            <a:off x="453510" y="1114425"/>
            <a:ext cx="7831404" cy="673100"/>
          </a:xfrm>
          <a:prstGeom prst="rect">
            <a:avLst/>
          </a:prstGeom>
        </p:spPr>
        <p:txBody>
          <a:bodyPr anchor="t" rtlCol="false" tIns="0" lIns="0" bIns="0" rIns="0">
            <a:spAutoFit/>
          </a:bodyPr>
          <a:lstStyle/>
          <a:p>
            <a:pPr algn="l">
              <a:lnSpc>
                <a:spcPts val="5050"/>
              </a:lnSpc>
            </a:pPr>
            <a:r>
              <a:rPr lang="en-US" sz="5000" b="true">
                <a:solidFill>
                  <a:srgbClr val="FFFFFF"/>
                </a:solidFill>
                <a:latin typeface="Garet Bold"/>
                <a:ea typeface="Garet Bold"/>
                <a:cs typeface="Garet Bold"/>
                <a:sym typeface="Garet Bold"/>
              </a:rPr>
              <a:t>2. Hoạt động cơ bản</a:t>
            </a:r>
          </a:p>
        </p:txBody>
      </p:sp>
      <p:sp>
        <p:nvSpPr>
          <p:cNvPr name="TextBox 6" id="6"/>
          <p:cNvSpPr txBox="true"/>
          <p:nvPr/>
        </p:nvSpPr>
        <p:spPr>
          <a:xfrm rot="0">
            <a:off x="15938341" y="8932545"/>
            <a:ext cx="1306653" cy="325788"/>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0A26">
                <a:alpha val="100000"/>
              </a:srgbClr>
            </a:gs>
            <a:gs pos="100000">
              <a:srgbClr val="10061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4239082" y="-28122"/>
            <a:ext cx="4665492" cy="4114800"/>
          </a:xfrm>
          <a:custGeom>
            <a:avLst/>
            <a:gdLst/>
            <a:ahLst/>
            <a:cxnLst/>
            <a:rect r="r" b="b" t="t" l="l"/>
            <a:pathLst>
              <a:path h="4114800" w="4665492">
                <a:moveTo>
                  <a:pt x="0" y="0"/>
                </a:moveTo>
                <a:lnTo>
                  <a:pt x="4665492" y="0"/>
                </a:lnTo>
                <a:lnTo>
                  <a:pt x="46654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034003" y="6324081"/>
            <a:ext cx="4665492" cy="4114800"/>
          </a:xfrm>
          <a:custGeom>
            <a:avLst/>
            <a:gdLst/>
            <a:ahLst/>
            <a:cxnLst/>
            <a:rect r="r" b="b" t="t" l="l"/>
            <a:pathLst>
              <a:path h="4114800" w="4665492">
                <a:moveTo>
                  <a:pt x="4665493" y="4114800"/>
                </a:moveTo>
                <a:lnTo>
                  <a:pt x="0" y="4114800"/>
                </a:lnTo>
                <a:lnTo>
                  <a:pt x="0" y="0"/>
                </a:lnTo>
                <a:lnTo>
                  <a:pt x="4665493" y="0"/>
                </a:lnTo>
                <a:lnTo>
                  <a:pt x="4665493"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23272">
            <a:off x="-119252" y="7029795"/>
            <a:ext cx="2820390" cy="4114800"/>
          </a:xfrm>
          <a:custGeom>
            <a:avLst/>
            <a:gdLst/>
            <a:ahLst/>
            <a:cxnLst/>
            <a:rect r="r" b="b" t="t" l="l"/>
            <a:pathLst>
              <a:path h="4114800" w="2820390">
                <a:moveTo>
                  <a:pt x="0" y="0"/>
                </a:moveTo>
                <a:lnTo>
                  <a:pt x="2820389" y="0"/>
                </a:lnTo>
                <a:lnTo>
                  <a:pt x="282038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08741" y="-404642"/>
            <a:ext cx="3701118" cy="2866684"/>
          </a:xfrm>
          <a:custGeom>
            <a:avLst/>
            <a:gdLst/>
            <a:ahLst/>
            <a:cxnLst/>
            <a:rect r="r" b="b" t="t" l="l"/>
            <a:pathLst>
              <a:path h="2866684" w="3701118">
                <a:moveTo>
                  <a:pt x="0" y="0"/>
                </a:moveTo>
                <a:lnTo>
                  <a:pt x="3701118" y="0"/>
                </a:lnTo>
                <a:lnTo>
                  <a:pt x="3701118" y="2866684"/>
                </a:lnTo>
                <a:lnTo>
                  <a:pt x="0" y="28666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308830" y="4923603"/>
            <a:ext cx="3773758" cy="3938457"/>
          </a:xfrm>
          <a:custGeom>
            <a:avLst/>
            <a:gdLst/>
            <a:ahLst/>
            <a:cxnLst/>
            <a:rect r="r" b="b" t="t" l="l"/>
            <a:pathLst>
              <a:path h="3938457" w="3773758">
                <a:moveTo>
                  <a:pt x="0" y="0"/>
                </a:moveTo>
                <a:lnTo>
                  <a:pt x="3773758" y="0"/>
                </a:lnTo>
                <a:lnTo>
                  <a:pt x="3773758" y="3938457"/>
                </a:lnTo>
                <a:lnTo>
                  <a:pt x="0" y="39384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true" rot="0">
            <a:off x="-1723884" y="-1418490"/>
            <a:ext cx="3447768" cy="3447768"/>
          </a:xfrm>
          <a:custGeom>
            <a:avLst/>
            <a:gdLst/>
            <a:ahLst/>
            <a:cxnLst/>
            <a:rect r="r" b="b" t="t" l="l"/>
            <a:pathLst>
              <a:path h="3447768" w="3447768">
                <a:moveTo>
                  <a:pt x="0" y="3447768"/>
                </a:moveTo>
                <a:lnTo>
                  <a:pt x="3447768" y="3447768"/>
                </a:lnTo>
                <a:lnTo>
                  <a:pt x="3447768" y="0"/>
                </a:lnTo>
                <a:lnTo>
                  <a:pt x="0" y="0"/>
                </a:lnTo>
                <a:lnTo>
                  <a:pt x="0" y="3447768"/>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028700" y="4362024"/>
            <a:ext cx="16077327" cy="4835597"/>
          </a:xfrm>
          <a:custGeom>
            <a:avLst/>
            <a:gdLst/>
            <a:ahLst/>
            <a:cxnLst/>
            <a:rect r="r" b="b" t="t" l="l"/>
            <a:pathLst>
              <a:path h="4835597" w="16077327">
                <a:moveTo>
                  <a:pt x="0" y="0"/>
                </a:moveTo>
                <a:lnTo>
                  <a:pt x="16077327" y="0"/>
                </a:lnTo>
                <a:lnTo>
                  <a:pt x="16077327" y="4835598"/>
                </a:lnTo>
                <a:lnTo>
                  <a:pt x="0" y="4835598"/>
                </a:lnTo>
                <a:lnTo>
                  <a:pt x="0" y="0"/>
                </a:lnTo>
                <a:close/>
              </a:path>
            </a:pathLst>
          </a:custGeom>
          <a:blipFill>
            <a:blip r:embed="rId12"/>
            <a:stretch>
              <a:fillRect l="0" t="0" r="0" b="0"/>
            </a:stretch>
          </a:blipFill>
        </p:spPr>
      </p:sp>
      <p:sp>
        <p:nvSpPr>
          <p:cNvPr name="TextBox 9" id="9"/>
          <p:cNvSpPr txBox="true"/>
          <p:nvPr/>
        </p:nvSpPr>
        <p:spPr>
          <a:xfrm rot="0">
            <a:off x="1298743" y="903157"/>
            <a:ext cx="8328562" cy="673100"/>
          </a:xfrm>
          <a:prstGeom prst="rect">
            <a:avLst/>
          </a:prstGeom>
        </p:spPr>
        <p:txBody>
          <a:bodyPr anchor="t" rtlCol="false" tIns="0" lIns="0" bIns="0" rIns="0">
            <a:spAutoFit/>
          </a:bodyPr>
          <a:lstStyle/>
          <a:p>
            <a:pPr algn="l">
              <a:lnSpc>
                <a:spcPts val="5050"/>
              </a:lnSpc>
            </a:pPr>
            <a:r>
              <a:rPr lang="en-US" sz="5000" b="true">
                <a:solidFill>
                  <a:srgbClr val="FFFFFF"/>
                </a:solidFill>
                <a:latin typeface="Garet Bold"/>
                <a:ea typeface="Garet Bold"/>
                <a:cs typeface="Garet Bold"/>
                <a:sym typeface="Garet Bold"/>
              </a:rPr>
              <a:t>3. Kiến trúc mạng YOLO</a:t>
            </a:r>
          </a:p>
        </p:txBody>
      </p:sp>
      <p:sp>
        <p:nvSpPr>
          <p:cNvPr name="TextBox 10" id="10"/>
          <p:cNvSpPr txBox="true"/>
          <p:nvPr/>
        </p:nvSpPr>
        <p:spPr>
          <a:xfrm rot="0">
            <a:off x="1723884" y="1799482"/>
            <a:ext cx="13684857" cy="2244035"/>
          </a:xfrm>
          <a:prstGeom prst="rect">
            <a:avLst/>
          </a:prstGeom>
        </p:spPr>
        <p:txBody>
          <a:bodyPr anchor="t" rtlCol="false" tIns="0" lIns="0" bIns="0" rIns="0">
            <a:spAutoFit/>
          </a:bodyPr>
          <a:lstStyle/>
          <a:p>
            <a:pPr algn="just">
              <a:lnSpc>
                <a:spcPts val="4398"/>
              </a:lnSpc>
            </a:pPr>
            <a:r>
              <a:rPr lang="en-US" sz="3141">
                <a:solidFill>
                  <a:srgbClr val="FFFFFF"/>
                </a:solidFill>
                <a:latin typeface="Poppins"/>
                <a:ea typeface="Poppins"/>
                <a:cs typeface="Poppins"/>
                <a:sym typeface="Poppins"/>
              </a:rPr>
              <a:t>Gồm: Base network là các mạng tích chập làm nhiệm vụ trích xuất đặc trưng → Feature map (Bản đồ đặc trưng)</a:t>
            </a:r>
          </a:p>
          <a:p>
            <a:pPr algn="just">
              <a:lnSpc>
                <a:spcPts val="4398"/>
              </a:lnSpc>
            </a:pPr>
            <a:r>
              <a:rPr lang="en-US" sz="3141">
                <a:solidFill>
                  <a:srgbClr val="FFFFFF"/>
                </a:solidFill>
                <a:latin typeface="Poppins"/>
                <a:ea typeface="Poppins"/>
                <a:cs typeface="Poppins"/>
                <a:sym typeface="Poppins"/>
              </a:rPr>
              <a:t>Extra Layers (lớp bổ sung) được áp dụng để phát hiện vật thể trên feature map.</a:t>
            </a:r>
          </a:p>
        </p:txBody>
      </p:sp>
      <p:sp>
        <p:nvSpPr>
          <p:cNvPr name="TextBox 11" id="11"/>
          <p:cNvSpPr txBox="true"/>
          <p:nvPr/>
        </p:nvSpPr>
        <p:spPr>
          <a:xfrm rot="0">
            <a:off x="15938341" y="8932545"/>
            <a:ext cx="1306653" cy="325755"/>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02</a:t>
            </a:r>
          </a:p>
        </p:txBody>
      </p:sp>
      <p:sp>
        <p:nvSpPr>
          <p:cNvPr name="TextBox 12" id="12"/>
          <p:cNvSpPr txBox="true"/>
          <p:nvPr/>
        </p:nvSpPr>
        <p:spPr>
          <a:xfrm rot="0">
            <a:off x="3504725" y="5759903"/>
            <a:ext cx="2201333" cy="288831"/>
          </a:xfrm>
          <a:prstGeom prst="rect">
            <a:avLst/>
          </a:prstGeom>
        </p:spPr>
        <p:txBody>
          <a:bodyPr anchor="t" rtlCol="false" tIns="0" lIns="0" bIns="0" rIns="0">
            <a:spAutoFit/>
          </a:bodyPr>
          <a:lstStyle/>
          <a:p>
            <a:pPr algn="ctr">
              <a:lnSpc>
                <a:spcPts val="2121"/>
              </a:lnSpc>
              <a:spcBef>
                <a:spcPct val="0"/>
              </a:spcBef>
            </a:pPr>
            <a:r>
              <a:rPr lang="en-US" b="true" sz="2100">
                <a:solidFill>
                  <a:srgbClr val="000000"/>
                </a:solidFill>
                <a:latin typeface="Garet Bold"/>
                <a:ea typeface="Garet Bold"/>
                <a:cs typeface="Garet Bold"/>
                <a:sym typeface="Garet Bold"/>
              </a:rPr>
              <a:t>BASE NETWORK</a:t>
            </a:r>
          </a:p>
        </p:txBody>
      </p:sp>
      <p:sp>
        <p:nvSpPr>
          <p:cNvPr name="TextBox 13" id="13"/>
          <p:cNvSpPr txBox="true"/>
          <p:nvPr/>
        </p:nvSpPr>
        <p:spPr>
          <a:xfrm rot="0">
            <a:off x="5463024" y="8351352"/>
            <a:ext cx="2021417" cy="291145"/>
          </a:xfrm>
          <a:prstGeom prst="rect">
            <a:avLst/>
          </a:prstGeom>
        </p:spPr>
        <p:txBody>
          <a:bodyPr anchor="t" rtlCol="false" tIns="0" lIns="0" bIns="0" rIns="0">
            <a:spAutoFit/>
          </a:bodyPr>
          <a:lstStyle/>
          <a:p>
            <a:pPr algn="ctr">
              <a:lnSpc>
                <a:spcPts val="2222"/>
              </a:lnSpc>
              <a:spcBef>
                <a:spcPct val="0"/>
              </a:spcBef>
            </a:pPr>
            <a:r>
              <a:rPr lang="en-US" b="true" sz="2200">
                <a:solidFill>
                  <a:srgbClr val="000000"/>
                </a:solidFill>
                <a:latin typeface="Garet Bold"/>
                <a:ea typeface="Garet Bold"/>
                <a:cs typeface="Garet Bold"/>
                <a:sym typeface="Garet Bold"/>
              </a:rPr>
              <a:t>FEATURE MAP</a:t>
            </a:r>
          </a:p>
        </p:txBody>
      </p:sp>
      <p:sp>
        <p:nvSpPr>
          <p:cNvPr name="TextBox 14" id="14"/>
          <p:cNvSpPr txBox="true"/>
          <p:nvPr/>
        </p:nvSpPr>
        <p:spPr>
          <a:xfrm rot="0">
            <a:off x="8080375" y="8298911"/>
            <a:ext cx="2127250" cy="291145"/>
          </a:xfrm>
          <a:prstGeom prst="rect">
            <a:avLst/>
          </a:prstGeom>
        </p:spPr>
        <p:txBody>
          <a:bodyPr anchor="t" rtlCol="false" tIns="0" lIns="0" bIns="0" rIns="0">
            <a:spAutoFit/>
          </a:bodyPr>
          <a:lstStyle/>
          <a:p>
            <a:pPr algn="ctr">
              <a:lnSpc>
                <a:spcPts val="2222"/>
              </a:lnSpc>
              <a:spcBef>
                <a:spcPct val="0"/>
              </a:spcBef>
            </a:pPr>
            <a:r>
              <a:rPr lang="en-US" b="true" sz="2200">
                <a:solidFill>
                  <a:srgbClr val="000000"/>
                </a:solidFill>
                <a:latin typeface="Garet Bold"/>
                <a:ea typeface="Garet Bold"/>
                <a:cs typeface="Garet Bold"/>
                <a:sym typeface="Garet Bold"/>
              </a:rPr>
              <a:t>EXTRA LAYERS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662321" y="2989707"/>
            <a:ext cx="12200613" cy="3522927"/>
          </a:xfrm>
          <a:custGeom>
            <a:avLst/>
            <a:gdLst/>
            <a:ahLst/>
            <a:cxnLst/>
            <a:rect r="r" b="b" t="t" l="l"/>
            <a:pathLst>
              <a:path h="3522927" w="12200613">
                <a:moveTo>
                  <a:pt x="0" y="0"/>
                </a:moveTo>
                <a:lnTo>
                  <a:pt x="12200612" y="0"/>
                </a:lnTo>
                <a:lnTo>
                  <a:pt x="12200612" y="3522927"/>
                </a:lnTo>
                <a:lnTo>
                  <a:pt x="0" y="3522927"/>
                </a:lnTo>
                <a:lnTo>
                  <a:pt x="0" y="0"/>
                </a:lnTo>
                <a:close/>
              </a:path>
            </a:pathLst>
          </a:custGeom>
          <a:blipFill>
            <a:blip r:embed="rId3"/>
            <a:stretch>
              <a:fillRect l="0" t="0" r="0" b="0"/>
            </a:stretch>
          </a:blipFill>
        </p:spPr>
      </p:sp>
      <p:sp>
        <p:nvSpPr>
          <p:cNvPr name="TextBox 4" id="4"/>
          <p:cNvSpPr txBox="true"/>
          <p:nvPr/>
        </p:nvSpPr>
        <p:spPr>
          <a:xfrm rot="0">
            <a:off x="1708234" y="1114488"/>
            <a:ext cx="14108786" cy="673100"/>
          </a:xfrm>
          <a:prstGeom prst="rect">
            <a:avLst/>
          </a:prstGeom>
        </p:spPr>
        <p:txBody>
          <a:bodyPr anchor="t" rtlCol="false" tIns="0" lIns="0" bIns="0" rIns="0">
            <a:spAutoFit/>
          </a:bodyPr>
          <a:lstStyle/>
          <a:p>
            <a:pPr algn="ctr">
              <a:lnSpc>
                <a:spcPts val="5050"/>
              </a:lnSpc>
            </a:pPr>
            <a:r>
              <a:rPr lang="en-US" sz="5000" b="true">
                <a:solidFill>
                  <a:srgbClr val="FFFFFF"/>
                </a:solidFill>
                <a:latin typeface="Garet Bold"/>
                <a:ea typeface="Garet Bold"/>
                <a:cs typeface="Garet Bold"/>
                <a:sym typeface="Garet Bold"/>
              </a:rPr>
              <a:t>4. So sánh YOLOv8 với các công nghệ khác</a:t>
            </a:r>
          </a:p>
        </p:txBody>
      </p:sp>
      <p:sp>
        <p:nvSpPr>
          <p:cNvPr name="TextBox 5" id="5"/>
          <p:cNvSpPr txBox="true"/>
          <p:nvPr/>
        </p:nvSpPr>
        <p:spPr>
          <a:xfrm rot="0">
            <a:off x="1984413" y="2044763"/>
            <a:ext cx="6259756" cy="592455"/>
          </a:xfrm>
          <a:prstGeom prst="rect">
            <a:avLst/>
          </a:prstGeom>
        </p:spPr>
        <p:txBody>
          <a:bodyPr anchor="t" rtlCol="false" tIns="0" lIns="0" bIns="0" rIns="0">
            <a:spAutoFit/>
          </a:bodyPr>
          <a:lstStyle/>
          <a:p>
            <a:pPr algn="just">
              <a:lnSpc>
                <a:spcPts val="4620"/>
              </a:lnSpc>
            </a:pPr>
            <a:r>
              <a:rPr lang="en-US" sz="3300" b="true">
                <a:solidFill>
                  <a:srgbClr val="FFFFFF"/>
                </a:solidFill>
                <a:latin typeface="Poppins Bold"/>
                <a:ea typeface="Poppins Bold"/>
                <a:cs typeface="Poppins Bold"/>
                <a:sym typeface="Poppins Bold"/>
              </a:rPr>
              <a:t>3.1 So sánh với Faster R-CNN</a:t>
            </a:r>
          </a:p>
        </p:txBody>
      </p:sp>
      <p:sp>
        <p:nvSpPr>
          <p:cNvPr name="TextBox 6" id="6"/>
          <p:cNvSpPr txBox="true"/>
          <p:nvPr/>
        </p:nvSpPr>
        <p:spPr>
          <a:xfrm rot="0">
            <a:off x="15938341" y="8932545"/>
            <a:ext cx="1306653" cy="325755"/>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03</a:t>
            </a:r>
          </a:p>
        </p:txBody>
      </p:sp>
      <p:sp>
        <p:nvSpPr>
          <p:cNvPr name="TextBox 7" id="7"/>
          <p:cNvSpPr txBox="true"/>
          <p:nvPr/>
        </p:nvSpPr>
        <p:spPr>
          <a:xfrm rot="0">
            <a:off x="2004628" y="6997851"/>
            <a:ext cx="13515999" cy="1754505"/>
          </a:xfrm>
          <a:prstGeom prst="rect">
            <a:avLst/>
          </a:prstGeom>
        </p:spPr>
        <p:txBody>
          <a:bodyPr anchor="t" rtlCol="false" tIns="0" lIns="0" bIns="0" rIns="0">
            <a:spAutoFit/>
          </a:bodyPr>
          <a:lstStyle/>
          <a:p>
            <a:pPr algn="just">
              <a:lnSpc>
                <a:spcPts val="4620"/>
              </a:lnSpc>
            </a:pPr>
            <a:r>
              <a:rPr lang="en-US" sz="3300" b="true">
                <a:solidFill>
                  <a:srgbClr val="FFFFFF"/>
                </a:solidFill>
                <a:latin typeface="Poppins Bold"/>
                <a:ea typeface="Poppins Bold"/>
                <a:cs typeface="Poppins Bold"/>
                <a:sym typeface="Poppins Bold"/>
              </a:rPr>
              <a:t>Nhận xét:</a:t>
            </a:r>
            <a:r>
              <a:rPr lang="en-US" sz="3300">
                <a:solidFill>
                  <a:srgbClr val="FFFFFF"/>
                </a:solidFill>
                <a:latin typeface="Poppins"/>
                <a:ea typeface="Poppins"/>
                <a:cs typeface="Poppins"/>
                <a:sym typeface="Poppins"/>
              </a:rPr>
              <a:t> Faster R-CNN phù hợp với các bài toán yêu cầu độ chính xác cao nhưng không cần tốc độ, trong khi YOLOv8 tối ưu cho ứng dụng real-time.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984413" y="3358341"/>
            <a:ext cx="13488465" cy="2394203"/>
          </a:xfrm>
          <a:custGeom>
            <a:avLst/>
            <a:gdLst/>
            <a:ahLst/>
            <a:cxnLst/>
            <a:rect r="r" b="b" t="t" l="l"/>
            <a:pathLst>
              <a:path h="2394203" w="13488465">
                <a:moveTo>
                  <a:pt x="0" y="0"/>
                </a:moveTo>
                <a:lnTo>
                  <a:pt x="13488465" y="0"/>
                </a:lnTo>
                <a:lnTo>
                  <a:pt x="13488465" y="2394202"/>
                </a:lnTo>
                <a:lnTo>
                  <a:pt x="0" y="2394202"/>
                </a:lnTo>
                <a:lnTo>
                  <a:pt x="0" y="0"/>
                </a:lnTo>
                <a:close/>
              </a:path>
            </a:pathLst>
          </a:custGeom>
          <a:blipFill>
            <a:blip r:embed="rId3"/>
            <a:stretch>
              <a:fillRect l="0" t="0" r="0" b="0"/>
            </a:stretch>
          </a:blipFill>
        </p:spPr>
      </p:sp>
      <p:sp>
        <p:nvSpPr>
          <p:cNvPr name="TextBox 4" id="4"/>
          <p:cNvSpPr txBox="true"/>
          <p:nvPr/>
        </p:nvSpPr>
        <p:spPr>
          <a:xfrm rot="0">
            <a:off x="1708234" y="1114488"/>
            <a:ext cx="14108786" cy="673100"/>
          </a:xfrm>
          <a:prstGeom prst="rect">
            <a:avLst/>
          </a:prstGeom>
        </p:spPr>
        <p:txBody>
          <a:bodyPr anchor="t" rtlCol="false" tIns="0" lIns="0" bIns="0" rIns="0">
            <a:spAutoFit/>
          </a:bodyPr>
          <a:lstStyle/>
          <a:p>
            <a:pPr algn="ctr">
              <a:lnSpc>
                <a:spcPts val="5050"/>
              </a:lnSpc>
            </a:pPr>
            <a:r>
              <a:rPr lang="en-US" sz="5000" b="true">
                <a:solidFill>
                  <a:srgbClr val="FFFFFF"/>
                </a:solidFill>
                <a:latin typeface="Garet Bold"/>
                <a:ea typeface="Garet Bold"/>
                <a:cs typeface="Garet Bold"/>
                <a:sym typeface="Garet Bold"/>
              </a:rPr>
              <a:t>4. So sánh YOLOv8 với các công nghệ khác</a:t>
            </a:r>
          </a:p>
        </p:txBody>
      </p:sp>
      <p:sp>
        <p:nvSpPr>
          <p:cNvPr name="TextBox 5" id="5"/>
          <p:cNvSpPr txBox="true"/>
          <p:nvPr/>
        </p:nvSpPr>
        <p:spPr>
          <a:xfrm rot="0">
            <a:off x="1984413" y="2044763"/>
            <a:ext cx="14843360" cy="592455"/>
          </a:xfrm>
          <a:prstGeom prst="rect">
            <a:avLst/>
          </a:prstGeom>
        </p:spPr>
        <p:txBody>
          <a:bodyPr anchor="t" rtlCol="false" tIns="0" lIns="0" bIns="0" rIns="0">
            <a:spAutoFit/>
          </a:bodyPr>
          <a:lstStyle/>
          <a:p>
            <a:pPr algn="just">
              <a:lnSpc>
                <a:spcPts val="4620"/>
              </a:lnSpc>
            </a:pPr>
            <a:r>
              <a:rPr lang="en-US" sz="3300" b="true">
                <a:solidFill>
                  <a:srgbClr val="FFFFFF"/>
                </a:solidFill>
                <a:latin typeface="Poppins Bold"/>
                <a:ea typeface="Poppins Bold"/>
                <a:cs typeface="Poppins Bold"/>
                <a:sym typeface="Poppins Bold"/>
              </a:rPr>
              <a:t>3.2 So sánh với SSD (Single Shot MultiBox Detector)</a:t>
            </a:r>
          </a:p>
        </p:txBody>
      </p:sp>
      <p:sp>
        <p:nvSpPr>
          <p:cNvPr name="TextBox 6" id="6"/>
          <p:cNvSpPr txBox="true"/>
          <p:nvPr/>
        </p:nvSpPr>
        <p:spPr>
          <a:xfrm rot="0">
            <a:off x="15938341" y="8932545"/>
            <a:ext cx="1306653" cy="325755"/>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04</a:t>
            </a:r>
          </a:p>
        </p:txBody>
      </p:sp>
      <p:sp>
        <p:nvSpPr>
          <p:cNvPr name="TextBox 7" id="7"/>
          <p:cNvSpPr txBox="true"/>
          <p:nvPr/>
        </p:nvSpPr>
        <p:spPr>
          <a:xfrm rot="0">
            <a:off x="1984413" y="6378416"/>
            <a:ext cx="13339017" cy="1754505"/>
          </a:xfrm>
          <a:prstGeom prst="rect">
            <a:avLst/>
          </a:prstGeom>
        </p:spPr>
        <p:txBody>
          <a:bodyPr anchor="t" rtlCol="false" tIns="0" lIns="0" bIns="0" rIns="0">
            <a:spAutoFit/>
          </a:bodyPr>
          <a:lstStyle/>
          <a:p>
            <a:pPr algn="just">
              <a:lnSpc>
                <a:spcPts val="4620"/>
              </a:lnSpc>
            </a:pPr>
            <a:r>
              <a:rPr lang="en-US" sz="3300" b="true">
                <a:solidFill>
                  <a:srgbClr val="FFFFFF"/>
                </a:solidFill>
                <a:latin typeface="Poppins Bold"/>
                <a:ea typeface="Poppins Bold"/>
                <a:cs typeface="Poppins Bold"/>
                <a:sym typeface="Poppins Bold"/>
              </a:rPr>
              <a:t>Nhận xét:</a:t>
            </a:r>
            <a:r>
              <a:rPr lang="en-US" sz="3300">
                <a:solidFill>
                  <a:srgbClr val="FFFFFF"/>
                </a:solidFill>
                <a:latin typeface="Poppins"/>
                <a:ea typeface="Poppins"/>
                <a:cs typeface="Poppins"/>
                <a:sym typeface="Poppins"/>
              </a:rPr>
              <a:t> YOLOv8 có độ chính xác tốt hơn SSD và tốc độ cũng tối ưu hơn, nhưng SSD vẫn là lựa chọn tốt cho các ứng dụng di động.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170269" y="1468388"/>
            <a:ext cx="15569014" cy="639699"/>
          </a:xfrm>
          <a:prstGeom prst="rect">
            <a:avLst/>
          </a:prstGeom>
        </p:spPr>
        <p:txBody>
          <a:bodyPr anchor="t" rtlCol="false" tIns="0" lIns="0" bIns="0" rIns="0">
            <a:spAutoFit/>
          </a:bodyPr>
          <a:lstStyle/>
          <a:p>
            <a:pPr algn="ctr">
              <a:lnSpc>
                <a:spcPts val="4848"/>
              </a:lnSpc>
            </a:pPr>
            <a:r>
              <a:rPr lang="en-US" sz="4800" b="true">
                <a:solidFill>
                  <a:srgbClr val="FFFFFF"/>
                </a:solidFill>
                <a:latin typeface="Garet Bold"/>
                <a:ea typeface="Garet Bold"/>
                <a:cs typeface="Garet Bold"/>
                <a:sym typeface="Garet Bold"/>
              </a:rPr>
              <a:t>5. Dự báo trên nhiều Feature Map trong YOLOv8</a:t>
            </a:r>
          </a:p>
        </p:txBody>
      </p:sp>
      <p:sp>
        <p:nvSpPr>
          <p:cNvPr name="TextBox 4" id="4"/>
          <p:cNvSpPr txBox="true"/>
          <p:nvPr/>
        </p:nvSpPr>
        <p:spPr>
          <a:xfrm rot="0">
            <a:off x="15938341" y="8932545"/>
            <a:ext cx="1306653" cy="325755"/>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05</a:t>
            </a:r>
          </a:p>
        </p:txBody>
      </p:sp>
      <p:sp>
        <p:nvSpPr>
          <p:cNvPr name="TextBox 5" id="5"/>
          <p:cNvSpPr txBox="true"/>
          <p:nvPr/>
        </p:nvSpPr>
        <p:spPr>
          <a:xfrm rot="0">
            <a:off x="2087344" y="2880939"/>
            <a:ext cx="14113311" cy="5240655"/>
          </a:xfrm>
          <a:prstGeom prst="rect">
            <a:avLst/>
          </a:prstGeom>
        </p:spPr>
        <p:txBody>
          <a:bodyPr anchor="t" rtlCol="false" tIns="0" lIns="0" bIns="0" rIns="0">
            <a:spAutoFit/>
          </a:bodyPr>
          <a:lstStyle/>
          <a:p>
            <a:pPr algn="just">
              <a:lnSpc>
                <a:spcPts val="4620"/>
              </a:lnSpc>
            </a:pPr>
            <a:r>
              <a:rPr lang="en-US" sz="3300">
                <a:solidFill>
                  <a:srgbClr val="FFFFFF"/>
                </a:solidFill>
                <a:latin typeface="Poppins"/>
                <a:ea typeface="Poppins"/>
                <a:cs typeface="Poppins"/>
                <a:sym typeface="Poppins"/>
              </a:rPr>
              <a:t>YOLOv8 sử dụng tích hợp nhiều feature map để đảm bảo phát hiện được các đối tượng ở nhiều kích thước khác nhau. Cụ thể, YOLOv8 sử dụng ba mức feature map chính:</a:t>
            </a:r>
          </a:p>
          <a:p>
            <a:pPr algn="just" marL="712470" indent="-356235" lvl="1">
              <a:lnSpc>
                <a:spcPts val="4620"/>
              </a:lnSpc>
              <a:buFont typeface="Arial"/>
              <a:buChar char="•"/>
            </a:pPr>
            <a:r>
              <a:rPr lang="en-US" sz="3300">
                <a:solidFill>
                  <a:srgbClr val="FFFFFF"/>
                </a:solidFill>
                <a:latin typeface="Poppins"/>
                <a:ea typeface="Poppins"/>
                <a:cs typeface="Poppins"/>
                <a:sym typeface="Poppins"/>
              </a:rPr>
              <a:t>P3 (Output từ layer nhỏ, có độ phân giải cao) → Nhận diện các vật thể nhỏ.</a:t>
            </a:r>
          </a:p>
          <a:p>
            <a:pPr algn="just" marL="712470" indent="-356235" lvl="1">
              <a:lnSpc>
                <a:spcPts val="4620"/>
              </a:lnSpc>
              <a:buFont typeface="Arial"/>
              <a:buChar char="•"/>
            </a:pPr>
            <a:r>
              <a:rPr lang="en-US" sz="3300">
                <a:solidFill>
                  <a:srgbClr val="FFFFFF"/>
                </a:solidFill>
                <a:latin typeface="Poppins"/>
                <a:ea typeface="Poppins"/>
                <a:cs typeface="Poppins"/>
                <a:sym typeface="Poppins"/>
              </a:rPr>
              <a:t>P4 (Output từ layer trung bình) → Nhận diện vật thể trung bình.</a:t>
            </a:r>
          </a:p>
          <a:p>
            <a:pPr algn="just" marL="712470" indent="-356235" lvl="1">
              <a:lnSpc>
                <a:spcPts val="4620"/>
              </a:lnSpc>
              <a:buFont typeface="Arial"/>
              <a:buChar char="•"/>
            </a:pPr>
            <a:r>
              <a:rPr lang="en-US" sz="3300">
                <a:solidFill>
                  <a:srgbClr val="FFFFFF"/>
                </a:solidFill>
                <a:latin typeface="Poppins"/>
                <a:ea typeface="Poppins"/>
                <a:cs typeface="Poppins"/>
                <a:sym typeface="Poppins"/>
              </a:rPr>
              <a:t>P5 (Output từ layer lớn, có độ phân giải thấp) → Nhận diện vật thể lớn.</a:t>
            </a:r>
          </a:p>
          <a:p>
            <a:pPr algn="just">
              <a:lnSpc>
                <a:spcPts val="462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0A26">
                <a:alpha val="100000"/>
              </a:srgbClr>
            </a:gs>
            <a:gs pos="100000">
              <a:srgbClr val="10061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4239082" y="-28122"/>
            <a:ext cx="4665492" cy="4114800"/>
          </a:xfrm>
          <a:custGeom>
            <a:avLst/>
            <a:gdLst/>
            <a:ahLst/>
            <a:cxnLst/>
            <a:rect r="r" b="b" t="t" l="l"/>
            <a:pathLst>
              <a:path h="4114800" w="4665492">
                <a:moveTo>
                  <a:pt x="0" y="0"/>
                </a:moveTo>
                <a:lnTo>
                  <a:pt x="4665492" y="0"/>
                </a:lnTo>
                <a:lnTo>
                  <a:pt x="46654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034003" y="6324081"/>
            <a:ext cx="4665492" cy="4114800"/>
          </a:xfrm>
          <a:custGeom>
            <a:avLst/>
            <a:gdLst/>
            <a:ahLst/>
            <a:cxnLst/>
            <a:rect r="r" b="b" t="t" l="l"/>
            <a:pathLst>
              <a:path h="4114800" w="4665492">
                <a:moveTo>
                  <a:pt x="4665493" y="4114800"/>
                </a:moveTo>
                <a:lnTo>
                  <a:pt x="0" y="4114800"/>
                </a:lnTo>
                <a:lnTo>
                  <a:pt x="0" y="0"/>
                </a:lnTo>
                <a:lnTo>
                  <a:pt x="4665493" y="0"/>
                </a:lnTo>
                <a:lnTo>
                  <a:pt x="4665493"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37410">
            <a:off x="10307289" y="8895973"/>
            <a:ext cx="3773056" cy="1536663"/>
          </a:xfrm>
          <a:custGeom>
            <a:avLst/>
            <a:gdLst/>
            <a:ahLst/>
            <a:cxnLst/>
            <a:rect r="r" b="b" t="t" l="l"/>
            <a:pathLst>
              <a:path h="1536663" w="3773056">
                <a:moveTo>
                  <a:pt x="0" y="0"/>
                </a:moveTo>
                <a:lnTo>
                  <a:pt x="3773056" y="0"/>
                </a:lnTo>
                <a:lnTo>
                  <a:pt x="3773056" y="1536663"/>
                </a:lnTo>
                <a:lnTo>
                  <a:pt x="0" y="15366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46998" y="8717738"/>
            <a:ext cx="3475862" cy="2009680"/>
          </a:xfrm>
          <a:custGeom>
            <a:avLst/>
            <a:gdLst/>
            <a:ahLst/>
            <a:cxnLst/>
            <a:rect r="r" b="b" t="t" l="l"/>
            <a:pathLst>
              <a:path h="2009680" w="3475862">
                <a:moveTo>
                  <a:pt x="0" y="0"/>
                </a:moveTo>
                <a:lnTo>
                  <a:pt x="3475862" y="0"/>
                </a:lnTo>
                <a:lnTo>
                  <a:pt x="3475862" y="2009680"/>
                </a:lnTo>
                <a:lnTo>
                  <a:pt x="0" y="2009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9827390">
            <a:off x="4328644" y="-868197"/>
            <a:ext cx="2907157" cy="3032236"/>
          </a:xfrm>
          <a:custGeom>
            <a:avLst/>
            <a:gdLst/>
            <a:ahLst/>
            <a:cxnLst/>
            <a:rect r="r" b="b" t="t" l="l"/>
            <a:pathLst>
              <a:path h="3032236" w="2907157">
                <a:moveTo>
                  <a:pt x="0" y="0"/>
                </a:moveTo>
                <a:lnTo>
                  <a:pt x="2907156" y="0"/>
                </a:lnTo>
                <a:lnTo>
                  <a:pt x="2907156" y="3032236"/>
                </a:lnTo>
                <a:lnTo>
                  <a:pt x="0" y="3032236"/>
                </a:lnTo>
                <a:lnTo>
                  <a:pt x="0" y="0"/>
                </a:lnTo>
                <a:close/>
              </a:path>
            </a:pathLst>
          </a:custGeom>
          <a:blipFill>
            <a:blip r:embed="rId8"/>
            <a:stretch>
              <a:fillRect l="0" t="0" r="0" b="0"/>
            </a:stretch>
          </a:blipFill>
        </p:spPr>
      </p:sp>
      <p:sp>
        <p:nvSpPr>
          <p:cNvPr name="Freeform 7" id="7"/>
          <p:cNvSpPr/>
          <p:nvPr/>
        </p:nvSpPr>
        <p:spPr>
          <a:xfrm flipH="false" flipV="false" rot="-1337395">
            <a:off x="16022390" y="2022670"/>
            <a:ext cx="2876227" cy="3001755"/>
          </a:xfrm>
          <a:custGeom>
            <a:avLst/>
            <a:gdLst/>
            <a:ahLst/>
            <a:cxnLst/>
            <a:rect r="r" b="b" t="t" l="l"/>
            <a:pathLst>
              <a:path h="3001755" w="2876227">
                <a:moveTo>
                  <a:pt x="0" y="0"/>
                </a:moveTo>
                <a:lnTo>
                  <a:pt x="2876227" y="0"/>
                </a:lnTo>
                <a:lnTo>
                  <a:pt x="2876227" y="3001755"/>
                </a:lnTo>
                <a:lnTo>
                  <a:pt x="0" y="30017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4306059" y="4132156"/>
            <a:ext cx="9675881" cy="1916578"/>
          </a:xfrm>
          <a:prstGeom prst="rect">
            <a:avLst/>
          </a:prstGeom>
        </p:spPr>
        <p:txBody>
          <a:bodyPr anchor="t" rtlCol="false" tIns="0" lIns="0" bIns="0" rIns="0">
            <a:spAutoFit/>
          </a:bodyPr>
          <a:lstStyle/>
          <a:p>
            <a:pPr algn="ctr">
              <a:lnSpc>
                <a:spcPts val="7395"/>
              </a:lnSpc>
            </a:pPr>
            <a:r>
              <a:rPr lang="en-US" b="true" sz="7322">
                <a:solidFill>
                  <a:srgbClr val="FFFFFF"/>
                </a:solidFill>
                <a:latin typeface="Garet Bold"/>
                <a:ea typeface="Garet Bold"/>
                <a:cs typeface="Garet Bold"/>
                <a:sym typeface="Garet Bold"/>
              </a:rPr>
              <a:t>QUÁ TRÌNH HUẤN LUYỆN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0A26">
                <a:alpha val="100000"/>
              </a:srgbClr>
            </a:gs>
            <a:gs pos="100000">
              <a:srgbClr val="10061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4239082" y="-28122"/>
            <a:ext cx="4665492" cy="4114800"/>
          </a:xfrm>
          <a:custGeom>
            <a:avLst/>
            <a:gdLst/>
            <a:ahLst/>
            <a:cxnLst/>
            <a:rect r="r" b="b" t="t" l="l"/>
            <a:pathLst>
              <a:path h="4114800" w="4665492">
                <a:moveTo>
                  <a:pt x="0" y="0"/>
                </a:moveTo>
                <a:lnTo>
                  <a:pt x="4665492" y="0"/>
                </a:lnTo>
                <a:lnTo>
                  <a:pt x="46654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034003" y="6324081"/>
            <a:ext cx="4665492" cy="4114800"/>
          </a:xfrm>
          <a:custGeom>
            <a:avLst/>
            <a:gdLst/>
            <a:ahLst/>
            <a:cxnLst/>
            <a:rect r="r" b="b" t="t" l="l"/>
            <a:pathLst>
              <a:path h="4114800" w="4665492">
                <a:moveTo>
                  <a:pt x="4665493" y="4114800"/>
                </a:moveTo>
                <a:lnTo>
                  <a:pt x="0" y="4114800"/>
                </a:lnTo>
                <a:lnTo>
                  <a:pt x="0" y="0"/>
                </a:lnTo>
                <a:lnTo>
                  <a:pt x="4665493" y="0"/>
                </a:lnTo>
                <a:lnTo>
                  <a:pt x="4665493"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23272">
            <a:off x="-119252" y="7029795"/>
            <a:ext cx="2820390" cy="4114800"/>
          </a:xfrm>
          <a:custGeom>
            <a:avLst/>
            <a:gdLst/>
            <a:ahLst/>
            <a:cxnLst/>
            <a:rect r="r" b="b" t="t" l="l"/>
            <a:pathLst>
              <a:path h="4114800" w="2820390">
                <a:moveTo>
                  <a:pt x="0" y="0"/>
                </a:moveTo>
                <a:lnTo>
                  <a:pt x="2820389" y="0"/>
                </a:lnTo>
                <a:lnTo>
                  <a:pt x="282038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08741" y="-404642"/>
            <a:ext cx="3701118" cy="2866684"/>
          </a:xfrm>
          <a:custGeom>
            <a:avLst/>
            <a:gdLst/>
            <a:ahLst/>
            <a:cxnLst/>
            <a:rect r="r" b="b" t="t" l="l"/>
            <a:pathLst>
              <a:path h="2866684" w="3701118">
                <a:moveTo>
                  <a:pt x="0" y="0"/>
                </a:moveTo>
                <a:lnTo>
                  <a:pt x="3701118" y="0"/>
                </a:lnTo>
                <a:lnTo>
                  <a:pt x="3701118" y="2866684"/>
                </a:lnTo>
                <a:lnTo>
                  <a:pt x="0" y="28666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308830" y="4923603"/>
            <a:ext cx="3773758" cy="3938457"/>
          </a:xfrm>
          <a:custGeom>
            <a:avLst/>
            <a:gdLst/>
            <a:ahLst/>
            <a:cxnLst/>
            <a:rect r="r" b="b" t="t" l="l"/>
            <a:pathLst>
              <a:path h="3938457" w="3773758">
                <a:moveTo>
                  <a:pt x="0" y="0"/>
                </a:moveTo>
                <a:lnTo>
                  <a:pt x="3773758" y="0"/>
                </a:lnTo>
                <a:lnTo>
                  <a:pt x="3773758" y="3938457"/>
                </a:lnTo>
                <a:lnTo>
                  <a:pt x="0" y="39384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true" rot="0">
            <a:off x="-432941" y="-695184"/>
            <a:ext cx="3447768" cy="3447768"/>
          </a:xfrm>
          <a:custGeom>
            <a:avLst/>
            <a:gdLst/>
            <a:ahLst/>
            <a:cxnLst/>
            <a:rect r="r" b="b" t="t" l="l"/>
            <a:pathLst>
              <a:path h="3447768" w="3447768">
                <a:moveTo>
                  <a:pt x="0" y="3447768"/>
                </a:moveTo>
                <a:lnTo>
                  <a:pt x="3447768" y="3447768"/>
                </a:lnTo>
                <a:lnTo>
                  <a:pt x="3447768" y="0"/>
                </a:lnTo>
                <a:lnTo>
                  <a:pt x="0" y="0"/>
                </a:lnTo>
                <a:lnTo>
                  <a:pt x="0" y="3447768"/>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131391" y="657087"/>
            <a:ext cx="12277350" cy="6445609"/>
          </a:xfrm>
          <a:custGeom>
            <a:avLst/>
            <a:gdLst/>
            <a:ahLst/>
            <a:cxnLst/>
            <a:rect r="r" b="b" t="t" l="l"/>
            <a:pathLst>
              <a:path h="6445609" w="12277350">
                <a:moveTo>
                  <a:pt x="0" y="0"/>
                </a:moveTo>
                <a:lnTo>
                  <a:pt x="12277350" y="0"/>
                </a:lnTo>
                <a:lnTo>
                  <a:pt x="12277350" y="6445609"/>
                </a:lnTo>
                <a:lnTo>
                  <a:pt x="0" y="6445609"/>
                </a:lnTo>
                <a:lnTo>
                  <a:pt x="0" y="0"/>
                </a:lnTo>
                <a:close/>
              </a:path>
            </a:pathLst>
          </a:custGeom>
          <a:blipFill>
            <a:blip r:embed="rId12"/>
            <a:stretch>
              <a:fillRect l="0" t="0" r="0" b="0"/>
            </a:stretch>
          </a:blipFill>
        </p:spPr>
      </p:sp>
      <p:sp>
        <p:nvSpPr>
          <p:cNvPr name="TextBox 9" id="9"/>
          <p:cNvSpPr txBox="true"/>
          <p:nvPr/>
        </p:nvSpPr>
        <p:spPr>
          <a:xfrm rot="0">
            <a:off x="15938341" y="8932545"/>
            <a:ext cx="1306653" cy="325755"/>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02</a:t>
            </a:r>
          </a:p>
        </p:txBody>
      </p:sp>
      <p:sp>
        <p:nvSpPr>
          <p:cNvPr name="TextBox 10" id="10"/>
          <p:cNvSpPr txBox="true"/>
          <p:nvPr/>
        </p:nvSpPr>
        <p:spPr>
          <a:xfrm rot="0">
            <a:off x="3153508" y="6540092"/>
            <a:ext cx="11360920" cy="458613"/>
          </a:xfrm>
          <a:prstGeom prst="rect">
            <a:avLst/>
          </a:prstGeom>
        </p:spPr>
        <p:txBody>
          <a:bodyPr anchor="t" rtlCol="false" tIns="0" lIns="0" bIns="0" rIns="0">
            <a:spAutoFit/>
          </a:bodyPr>
          <a:lstStyle/>
          <a:p>
            <a:pPr algn="just">
              <a:lnSpc>
                <a:spcPts val="3595"/>
              </a:lnSpc>
            </a:pPr>
            <a:r>
              <a:rPr lang="en-US" sz="2568">
                <a:solidFill>
                  <a:srgbClr val="FFFFFF"/>
                </a:solidFill>
                <a:latin typeface="Poppins"/>
                <a:ea typeface="Poppins"/>
                <a:cs typeface="Poppins"/>
                <a:sym typeface="Poppins"/>
              </a:rPr>
              <a:t>- Batch Size: Số mẫu được xử lý qua mạng neural trong một lần. </a:t>
            </a:r>
          </a:p>
        </p:txBody>
      </p:sp>
      <p:sp>
        <p:nvSpPr>
          <p:cNvPr name="TextBox 11" id="11"/>
          <p:cNvSpPr txBox="true"/>
          <p:nvPr/>
        </p:nvSpPr>
        <p:spPr>
          <a:xfrm rot="0">
            <a:off x="3153508" y="6051109"/>
            <a:ext cx="2637987" cy="336583"/>
          </a:xfrm>
          <a:prstGeom prst="rect">
            <a:avLst/>
          </a:prstGeom>
        </p:spPr>
        <p:txBody>
          <a:bodyPr anchor="t" rtlCol="false" tIns="0" lIns="0" bIns="0" rIns="0">
            <a:spAutoFit/>
          </a:bodyPr>
          <a:lstStyle/>
          <a:p>
            <a:pPr algn="l">
              <a:lnSpc>
                <a:spcPts val="2524"/>
              </a:lnSpc>
            </a:pPr>
            <a:r>
              <a:rPr lang="en-US" b="true" sz="2499">
                <a:solidFill>
                  <a:srgbClr val="FFFFFF"/>
                </a:solidFill>
                <a:latin typeface="Garet Bold"/>
                <a:ea typeface="Garet Bold"/>
                <a:cs typeface="Garet Bold"/>
                <a:sym typeface="Garet Bold"/>
              </a:rPr>
              <a:t>BATCH SIZE</a:t>
            </a:r>
          </a:p>
        </p:txBody>
      </p:sp>
      <p:sp>
        <p:nvSpPr>
          <p:cNvPr name="TextBox 12" id="12"/>
          <p:cNvSpPr txBox="true"/>
          <p:nvPr/>
        </p:nvSpPr>
        <p:spPr>
          <a:xfrm rot="0">
            <a:off x="3131391" y="7904196"/>
            <a:ext cx="12506148" cy="1354104"/>
          </a:xfrm>
          <a:prstGeom prst="rect">
            <a:avLst/>
          </a:prstGeom>
        </p:spPr>
        <p:txBody>
          <a:bodyPr anchor="t" rtlCol="false" tIns="0" lIns="0" bIns="0" rIns="0">
            <a:spAutoFit/>
          </a:bodyPr>
          <a:lstStyle/>
          <a:p>
            <a:pPr algn="just">
              <a:lnSpc>
                <a:spcPts val="3583"/>
              </a:lnSpc>
            </a:pPr>
            <a:r>
              <a:rPr lang="en-US" sz="2559">
                <a:solidFill>
                  <a:srgbClr val="FFFFFF"/>
                </a:solidFill>
                <a:latin typeface="Poppins"/>
                <a:ea typeface="Poppins"/>
                <a:cs typeface="Poppins"/>
                <a:sym typeface="Poppins"/>
              </a:rPr>
              <a:t>- Số lượng Epochs là số lần toàn bộ dữ liệu huấn luyện được truyền qua mô hình. Ví dụ, khi đặt epochs=120, mô hình sẽ được huấn luyện qua tập dữ liệu 120 lần. </a:t>
            </a:r>
          </a:p>
        </p:txBody>
      </p:sp>
      <p:sp>
        <p:nvSpPr>
          <p:cNvPr name="TextBox 13" id="13"/>
          <p:cNvSpPr txBox="true"/>
          <p:nvPr/>
        </p:nvSpPr>
        <p:spPr>
          <a:xfrm rot="0">
            <a:off x="3242524" y="7417021"/>
            <a:ext cx="2637987" cy="336583"/>
          </a:xfrm>
          <a:prstGeom prst="rect">
            <a:avLst/>
          </a:prstGeom>
        </p:spPr>
        <p:txBody>
          <a:bodyPr anchor="t" rtlCol="false" tIns="0" lIns="0" bIns="0" rIns="0">
            <a:spAutoFit/>
          </a:bodyPr>
          <a:lstStyle/>
          <a:p>
            <a:pPr algn="l">
              <a:lnSpc>
                <a:spcPts val="2524"/>
              </a:lnSpc>
            </a:pPr>
            <a:r>
              <a:rPr lang="en-US" b="true" sz="2499">
                <a:solidFill>
                  <a:srgbClr val="FFFFFF"/>
                </a:solidFill>
                <a:latin typeface="Garet Bold"/>
                <a:ea typeface="Garet Bold"/>
                <a:cs typeface="Garet Bold"/>
                <a:sym typeface="Garet Bold"/>
              </a:rPr>
              <a:t>EPOCHS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0A26">
                <a:alpha val="100000"/>
              </a:srgbClr>
            </a:gs>
            <a:gs pos="100000">
              <a:srgbClr val="10061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4239082" y="-28122"/>
            <a:ext cx="4665492" cy="4114800"/>
          </a:xfrm>
          <a:custGeom>
            <a:avLst/>
            <a:gdLst/>
            <a:ahLst/>
            <a:cxnLst/>
            <a:rect r="r" b="b" t="t" l="l"/>
            <a:pathLst>
              <a:path h="4114800" w="4665492">
                <a:moveTo>
                  <a:pt x="0" y="0"/>
                </a:moveTo>
                <a:lnTo>
                  <a:pt x="4665492" y="0"/>
                </a:lnTo>
                <a:lnTo>
                  <a:pt x="46654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034003" y="6324081"/>
            <a:ext cx="4665492" cy="4114800"/>
          </a:xfrm>
          <a:custGeom>
            <a:avLst/>
            <a:gdLst/>
            <a:ahLst/>
            <a:cxnLst/>
            <a:rect r="r" b="b" t="t" l="l"/>
            <a:pathLst>
              <a:path h="4114800" w="4665492">
                <a:moveTo>
                  <a:pt x="4665493" y="4114800"/>
                </a:moveTo>
                <a:lnTo>
                  <a:pt x="0" y="4114800"/>
                </a:lnTo>
                <a:lnTo>
                  <a:pt x="0" y="0"/>
                </a:lnTo>
                <a:lnTo>
                  <a:pt x="4665493" y="0"/>
                </a:lnTo>
                <a:lnTo>
                  <a:pt x="4665493"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37410">
            <a:off x="10307289" y="8895973"/>
            <a:ext cx="3773056" cy="1536663"/>
          </a:xfrm>
          <a:custGeom>
            <a:avLst/>
            <a:gdLst/>
            <a:ahLst/>
            <a:cxnLst/>
            <a:rect r="r" b="b" t="t" l="l"/>
            <a:pathLst>
              <a:path h="1536663" w="3773056">
                <a:moveTo>
                  <a:pt x="0" y="0"/>
                </a:moveTo>
                <a:lnTo>
                  <a:pt x="3773056" y="0"/>
                </a:lnTo>
                <a:lnTo>
                  <a:pt x="3773056" y="1536663"/>
                </a:lnTo>
                <a:lnTo>
                  <a:pt x="0" y="15366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46998" y="8717738"/>
            <a:ext cx="3475862" cy="2009680"/>
          </a:xfrm>
          <a:custGeom>
            <a:avLst/>
            <a:gdLst/>
            <a:ahLst/>
            <a:cxnLst/>
            <a:rect r="r" b="b" t="t" l="l"/>
            <a:pathLst>
              <a:path h="2009680" w="3475862">
                <a:moveTo>
                  <a:pt x="0" y="0"/>
                </a:moveTo>
                <a:lnTo>
                  <a:pt x="3475862" y="0"/>
                </a:lnTo>
                <a:lnTo>
                  <a:pt x="3475862" y="2009680"/>
                </a:lnTo>
                <a:lnTo>
                  <a:pt x="0" y="2009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9827390">
            <a:off x="4328644" y="-868197"/>
            <a:ext cx="2907157" cy="3032236"/>
          </a:xfrm>
          <a:custGeom>
            <a:avLst/>
            <a:gdLst/>
            <a:ahLst/>
            <a:cxnLst/>
            <a:rect r="r" b="b" t="t" l="l"/>
            <a:pathLst>
              <a:path h="3032236" w="2907157">
                <a:moveTo>
                  <a:pt x="0" y="0"/>
                </a:moveTo>
                <a:lnTo>
                  <a:pt x="2907156" y="0"/>
                </a:lnTo>
                <a:lnTo>
                  <a:pt x="2907156" y="3032236"/>
                </a:lnTo>
                <a:lnTo>
                  <a:pt x="0" y="3032236"/>
                </a:lnTo>
                <a:lnTo>
                  <a:pt x="0" y="0"/>
                </a:lnTo>
                <a:close/>
              </a:path>
            </a:pathLst>
          </a:custGeom>
          <a:blipFill>
            <a:blip r:embed="rId8"/>
            <a:stretch>
              <a:fillRect l="0" t="0" r="0" b="0"/>
            </a:stretch>
          </a:blipFill>
        </p:spPr>
      </p:sp>
      <p:sp>
        <p:nvSpPr>
          <p:cNvPr name="Freeform 7" id="7"/>
          <p:cNvSpPr/>
          <p:nvPr/>
        </p:nvSpPr>
        <p:spPr>
          <a:xfrm flipH="false" flipV="false" rot="-1337395">
            <a:off x="16022390" y="2022670"/>
            <a:ext cx="2876227" cy="3001755"/>
          </a:xfrm>
          <a:custGeom>
            <a:avLst/>
            <a:gdLst/>
            <a:ahLst/>
            <a:cxnLst/>
            <a:rect r="r" b="b" t="t" l="l"/>
            <a:pathLst>
              <a:path h="3001755" w="2876227">
                <a:moveTo>
                  <a:pt x="0" y="0"/>
                </a:moveTo>
                <a:lnTo>
                  <a:pt x="2876227" y="0"/>
                </a:lnTo>
                <a:lnTo>
                  <a:pt x="2876227" y="3001755"/>
                </a:lnTo>
                <a:lnTo>
                  <a:pt x="0" y="30017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2428864" y="3656897"/>
            <a:ext cx="13414284" cy="2853194"/>
          </a:xfrm>
          <a:prstGeom prst="rect">
            <a:avLst/>
          </a:prstGeom>
        </p:spPr>
        <p:txBody>
          <a:bodyPr anchor="t" rtlCol="false" tIns="0" lIns="0" bIns="0" rIns="0">
            <a:spAutoFit/>
          </a:bodyPr>
          <a:lstStyle/>
          <a:p>
            <a:pPr algn="ctr">
              <a:lnSpc>
                <a:spcPts val="7395"/>
              </a:lnSpc>
            </a:pPr>
            <a:r>
              <a:rPr lang="en-US" b="true" sz="7322">
                <a:solidFill>
                  <a:srgbClr val="FFFFFF"/>
                </a:solidFill>
                <a:latin typeface="Garet Bold"/>
                <a:ea typeface="Garet Bold"/>
                <a:cs typeface="Garet Bold"/>
                <a:sym typeface="Garet Bold"/>
              </a:rPr>
              <a:t>CÁC CHỈ SỐ ĐÁNH GIÁ MÔ HÌNH YOLO SAU KHI HUẤN LUYỆN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0A26">
                <a:alpha val="100000"/>
              </a:srgbClr>
            </a:gs>
            <a:gs pos="100000">
              <a:srgbClr val="10061A">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4239082" y="-28122"/>
            <a:ext cx="4665492" cy="4114800"/>
          </a:xfrm>
          <a:custGeom>
            <a:avLst/>
            <a:gdLst/>
            <a:ahLst/>
            <a:cxnLst/>
            <a:rect r="r" b="b" t="t" l="l"/>
            <a:pathLst>
              <a:path h="4114800" w="4665492">
                <a:moveTo>
                  <a:pt x="0" y="0"/>
                </a:moveTo>
                <a:lnTo>
                  <a:pt x="4665492" y="0"/>
                </a:lnTo>
                <a:lnTo>
                  <a:pt x="46654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034003" y="6324081"/>
            <a:ext cx="4665492" cy="4114800"/>
          </a:xfrm>
          <a:custGeom>
            <a:avLst/>
            <a:gdLst/>
            <a:ahLst/>
            <a:cxnLst/>
            <a:rect r="r" b="b" t="t" l="l"/>
            <a:pathLst>
              <a:path h="4114800" w="4665492">
                <a:moveTo>
                  <a:pt x="4665493" y="4114800"/>
                </a:moveTo>
                <a:lnTo>
                  <a:pt x="0" y="4114800"/>
                </a:lnTo>
                <a:lnTo>
                  <a:pt x="0" y="0"/>
                </a:lnTo>
                <a:lnTo>
                  <a:pt x="4665493" y="0"/>
                </a:lnTo>
                <a:lnTo>
                  <a:pt x="4665493"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31722" y="2773564"/>
            <a:ext cx="1587749" cy="1618088"/>
          </a:xfrm>
          <a:custGeom>
            <a:avLst/>
            <a:gdLst/>
            <a:ahLst/>
            <a:cxnLst/>
            <a:rect r="r" b="b" t="t" l="l"/>
            <a:pathLst>
              <a:path h="1618088" w="1587749">
                <a:moveTo>
                  <a:pt x="0" y="0"/>
                </a:moveTo>
                <a:lnTo>
                  <a:pt x="1587749" y="0"/>
                </a:lnTo>
                <a:lnTo>
                  <a:pt x="1587749" y="1618089"/>
                </a:lnTo>
                <a:lnTo>
                  <a:pt x="0" y="1618089"/>
                </a:lnTo>
                <a:lnTo>
                  <a:pt x="0" y="0"/>
                </a:lnTo>
                <a:close/>
              </a:path>
            </a:pathLst>
          </a:custGeom>
          <a:blipFill>
            <a:blip r:embed="rId4"/>
            <a:stretch>
              <a:fillRect l="0" t="0" r="0" b="0"/>
            </a:stretch>
          </a:blipFill>
        </p:spPr>
      </p:sp>
      <p:sp>
        <p:nvSpPr>
          <p:cNvPr name="Freeform 5" id="5"/>
          <p:cNvSpPr/>
          <p:nvPr/>
        </p:nvSpPr>
        <p:spPr>
          <a:xfrm flipH="false" flipV="false" rot="0">
            <a:off x="11373049" y="2838226"/>
            <a:ext cx="1587749" cy="1618088"/>
          </a:xfrm>
          <a:custGeom>
            <a:avLst/>
            <a:gdLst/>
            <a:ahLst/>
            <a:cxnLst/>
            <a:rect r="r" b="b" t="t" l="l"/>
            <a:pathLst>
              <a:path h="1618088" w="1587749">
                <a:moveTo>
                  <a:pt x="0" y="0"/>
                </a:moveTo>
                <a:lnTo>
                  <a:pt x="1587749" y="0"/>
                </a:lnTo>
                <a:lnTo>
                  <a:pt x="1587749" y="1618089"/>
                </a:lnTo>
                <a:lnTo>
                  <a:pt x="0" y="1618089"/>
                </a:lnTo>
                <a:lnTo>
                  <a:pt x="0" y="0"/>
                </a:lnTo>
                <a:close/>
              </a:path>
            </a:pathLst>
          </a:custGeom>
          <a:blipFill>
            <a:blip r:embed="rId4"/>
            <a:stretch>
              <a:fillRect l="0" t="0" r="0" b="0"/>
            </a:stretch>
          </a:blipFill>
        </p:spPr>
      </p:sp>
      <p:sp>
        <p:nvSpPr>
          <p:cNvPr name="Freeform 6" id="6"/>
          <p:cNvSpPr/>
          <p:nvPr/>
        </p:nvSpPr>
        <p:spPr>
          <a:xfrm flipH="false" flipV="false" rot="0">
            <a:off x="8352386" y="5945079"/>
            <a:ext cx="1587749" cy="1618088"/>
          </a:xfrm>
          <a:custGeom>
            <a:avLst/>
            <a:gdLst/>
            <a:ahLst/>
            <a:cxnLst/>
            <a:rect r="r" b="b" t="t" l="l"/>
            <a:pathLst>
              <a:path h="1618088" w="1587749">
                <a:moveTo>
                  <a:pt x="0" y="0"/>
                </a:moveTo>
                <a:lnTo>
                  <a:pt x="1587749" y="0"/>
                </a:lnTo>
                <a:lnTo>
                  <a:pt x="1587749" y="1618089"/>
                </a:lnTo>
                <a:lnTo>
                  <a:pt x="0" y="1618089"/>
                </a:lnTo>
                <a:lnTo>
                  <a:pt x="0" y="0"/>
                </a:lnTo>
                <a:close/>
              </a:path>
            </a:pathLst>
          </a:custGeom>
          <a:blipFill>
            <a:blip r:embed="rId4"/>
            <a:stretch>
              <a:fillRect l="0" t="0" r="0" b="0"/>
            </a:stretch>
          </a:blipFill>
        </p:spPr>
      </p:sp>
      <p:sp>
        <p:nvSpPr>
          <p:cNvPr name="Freeform 7" id="7"/>
          <p:cNvSpPr/>
          <p:nvPr/>
        </p:nvSpPr>
        <p:spPr>
          <a:xfrm flipH="false" flipV="false" rot="0">
            <a:off x="15332773" y="6319131"/>
            <a:ext cx="5367903" cy="2947467"/>
          </a:xfrm>
          <a:custGeom>
            <a:avLst/>
            <a:gdLst/>
            <a:ahLst/>
            <a:cxnLst/>
            <a:rect r="r" b="b" t="t" l="l"/>
            <a:pathLst>
              <a:path h="2947467" w="5367903">
                <a:moveTo>
                  <a:pt x="0" y="0"/>
                </a:moveTo>
                <a:lnTo>
                  <a:pt x="5367903" y="0"/>
                </a:lnTo>
                <a:lnTo>
                  <a:pt x="5367903" y="2947466"/>
                </a:lnTo>
                <a:lnTo>
                  <a:pt x="0" y="29474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30175">
            <a:off x="-1229735" y="7570593"/>
            <a:ext cx="3942161" cy="2766680"/>
          </a:xfrm>
          <a:custGeom>
            <a:avLst/>
            <a:gdLst/>
            <a:ahLst/>
            <a:cxnLst/>
            <a:rect r="r" b="b" t="t" l="l"/>
            <a:pathLst>
              <a:path h="2766680" w="3942161">
                <a:moveTo>
                  <a:pt x="0" y="0"/>
                </a:moveTo>
                <a:lnTo>
                  <a:pt x="3942160" y="0"/>
                </a:lnTo>
                <a:lnTo>
                  <a:pt x="3942160" y="2766680"/>
                </a:lnTo>
                <a:lnTo>
                  <a:pt x="0" y="2766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729648" y="-1799907"/>
            <a:ext cx="3599814" cy="3599814"/>
          </a:xfrm>
          <a:custGeom>
            <a:avLst/>
            <a:gdLst/>
            <a:ahLst/>
            <a:cxnLst/>
            <a:rect r="r" b="b" t="t" l="l"/>
            <a:pathLst>
              <a:path h="3599814" w="3599814">
                <a:moveTo>
                  <a:pt x="0" y="0"/>
                </a:moveTo>
                <a:lnTo>
                  <a:pt x="3599814" y="0"/>
                </a:lnTo>
                <a:lnTo>
                  <a:pt x="3599814" y="3599814"/>
                </a:lnTo>
                <a:lnTo>
                  <a:pt x="0" y="35998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5756050" y="3276203"/>
            <a:ext cx="734573" cy="708061"/>
          </a:xfrm>
          <a:prstGeom prst="rect">
            <a:avLst/>
          </a:prstGeom>
        </p:spPr>
        <p:txBody>
          <a:bodyPr anchor="t" rtlCol="false" tIns="0" lIns="0" bIns="0" rIns="0">
            <a:spAutoFit/>
          </a:bodyPr>
          <a:lstStyle/>
          <a:p>
            <a:pPr algn="ctr">
              <a:lnSpc>
                <a:spcPts val="5336"/>
              </a:lnSpc>
            </a:pPr>
            <a:r>
              <a:rPr lang="en-US" b="true" sz="5283">
                <a:solidFill>
                  <a:srgbClr val="FFFFFF"/>
                </a:solidFill>
                <a:latin typeface="Garet Bold"/>
                <a:ea typeface="Garet Bold"/>
                <a:cs typeface="Garet Bold"/>
                <a:sym typeface="Garet Bold"/>
              </a:rPr>
              <a:t>1</a:t>
            </a:r>
          </a:p>
        </p:txBody>
      </p:sp>
      <p:sp>
        <p:nvSpPr>
          <p:cNvPr name="TextBox 11" id="11"/>
          <p:cNvSpPr txBox="true"/>
          <p:nvPr/>
        </p:nvSpPr>
        <p:spPr>
          <a:xfrm rot="0">
            <a:off x="3537274" y="4647774"/>
            <a:ext cx="4532094" cy="509906"/>
          </a:xfrm>
          <a:prstGeom prst="rect">
            <a:avLst/>
          </a:prstGeom>
        </p:spPr>
        <p:txBody>
          <a:bodyPr anchor="t" rtlCol="false" tIns="0" lIns="0" bIns="0" rIns="0">
            <a:spAutoFit/>
          </a:bodyPr>
          <a:lstStyle/>
          <a:p>
            <a:pPr algn="ctr">
              <a:lnSpc>
                <a:spcPts val="3919"/>
              </a:lnSpc>
            </a:pPr>
            <a:r>
              <a:rPr lang="en-US" sz="2799">
                <a:solidFill>
                  <a:srgbClr val="FFFFFF"/>
                </a:solidFill>
                <a:latin typeface="Poppins"/>
                <a:ea typeface="Poppins"/>
                <a:cs typeface="Poppins"/>
                <a:sym typeface="Poppins"/>
              </a:rPr>
              <a:t> Precision (Độ chính xác) </a:t>
            </a:r>
          </a:p>
        </p:txBody>
      </p:sp>
      <p:sp>
        <p:nvSpPr>
          <p:cNvPr name="TextBox 12" id="12"/>
          <p:cNvSpPr txBox="true"/>
          <p:nvPr/>
        </p:nvSpPr>
        <p:spPr>
          <a:xfrm rot="0">
            <a:off x="11799637" y="3340865"/>
            <a:ext cx="734573" cy="708061"/>
          </a:xfrm>
          <a:prstGeom prst="rect">
            <a:avLst/>
          </a:prstGeom>
        </p:spPr>
        <p:txBody>
          <a:bodyPr anchor="t" rtlCol="false" tIns="0" lIns="0" bIns="0" rIns="0">
            <a:spAutoFit/>
          </a:bodyPr>
          <a:lstStyle/>
          <a:p>
            <a:pPr algn="ctr">
              <a:lnSpc>
                <a:spcPts val="5336"/>
              </a:lnSpc>
            </a:pPr>
            <a:r>
              <a:rPr lang="en-US" b="true" sz="5283">
                <a:solidFill>
                  <a:srgbClr val="FFFFFF"/>
                </a:solidFill>
                <a:latin typeface="Garet Bold"/>
                <a:ea typeface="Garet Bold"/>
                <a:cs typeface="Garet Bold"/>
                <a:sym typeface="Garet Bold"/>
              </a:rPr>
              <a:t>2</a:t>
            </a:r>
          </a:p>
        </p:txBody>
      </p:sp>
      <p:sp>
        <p:nvSpPr>
          <p:cNvPr name="TextBox 13" id="13"/>
          <p:cNvSpPr txBox="true"/>
          <p:nvPr/>
        </p:nvSpPr>
        <p:spPr>
          <a:xfrm rot="0">
            <a:off x="9940135" y="4669660"/>
            <a:ext cx="5176646" cy="559436"/>
          </a:xfrm>
          <a:prstGeom prst="rect">
            <a:avLst/>
          </a:prstGeom>
        </p:spPr>
        <p:txBody>
          <a:bodyPr anchor="t" rtlCol="false" tIns="0" lIns="0" bIns="0" rIns="0">
            <a:spAutoFit/>
          </a:bodyPr>
          <a:lstStyle/>
          <a:p>
            <a:pPr algn="ctr">
              <a:lnSpc>
                <a:spcPts val="4339"/>
              </a:lnSpc>
            </a:pPr>
            <a:r>
              <a:rPr lang="en-US" sz="3099">
                <a:solidFill>
                  <a:srgbClr val="FFFFFF"/>
                </a:solidFill>
                <a:latin typeface="Poppins"/>
                <a:ea typeface="Poppins"/>
                <a:cs typeface="Poppins"/>
                <a:sym typeface="Poppins"/>
              </a:rPr>
              <a:t>Recall (Độ nhạy)</a:t>
            </a:r>
          </a:p>
        </p:txBody>
      </p:sp>
      <p:sp>
        <p:nvSpPr>
          <p:cNvPr name="TextBox 14" id="14"/>
          <p:cNvSpPr txBox="true"/>
          <p:nvPr/>
        </p:nvSpPr>
        <p:spPr>
          <a:xfrm rot="0">
            <a:off x="8778974" y="6447718"/>
            <a:ext cx="734573" cy="708061"/>
          </a:xfrm>
          <a:prstGeom prst="rect">
            <a:avLst/>
          </a:prstGeom>
        </p:spPr>
        <p:txBody>
          <a:bodyPr anchor="t" rtlCol="false" tIns="0" lIns="0" bIns="0" rIns="0">
            <a:spAutoFit/>
          </a:bodyPr>
          <a:lstStyle/>
          <a:p>
            <a:pPr algn="ctr">
              <a:lnSpc>
                <a:spcPts val="5336"/>
              </a:lnSpc>
            </a:pPr>
            <a:r>
              <a:rPr lang="en-US" b="true" sz="5283">
                <a:solidFill>
                  <a:srgbClr val="FFFFFF"/>
                </a:solidFill>
                <a:latin typeface="Garet Bold"/>
                <a:ea typeface="Garet Bold"/>
                <a:cs typeface="Garet Bold"/>
                <a:sym typeface="Garet Bold"/>
              </a:rPr>
              <a:t>3</a:t>
            </a:r>
          </a:p>
        </p:txBody>
      </p:sp>
      <p:sp>
        <p:nvSpPr>
          <p:cNvPr name="TextBox 15" id="15"/>
          <p:cNvSpPr txBox="true"/>
          <p:nvPr/>
        </p:nvSpPr>
        <p:spPr>
          <a:xfrm rot="0">
            <a:off x="6557937" y="7680441"/>
            <a:ext cx="5176646" cy="1102361"/>
          </a:xfrm>
          <a:prstGeom prst="rect">
            <a:avLst/>
          </a:prstGeom>
        </p:spPr>
        <p:txBody>
          <a:bodyPr anchor="t" rtlCol="false" tIns="0" lIns="0" bIns="0" rIns="0">
            <a:spAutoFit/>
          </a:bodyPr>
          <a:lstStyle/>
          <a:p>
            <a:pPr algn="ctr">
              <a:lnSpc>
                <a:spcPts val="4339"/>
              </a:lnSpc>
            </a:pPr>
            <a:r>
              <a:rPr lang="en-US" sz="3099">
                <a:solidFill>
                  <a:srgbClr val="FFFFFF"/>
                </a:solidFill>
                <a:latin typeface="Poppins"/>
                <a:ea typeface="Poppins"/>
                <a:cs typeface="Poppins"/>
                <a:sym typeface="Poppins"/>
              </a:rPr>
              <a:t>Intersection over Union (IoU) </a:t>
            </a:r>
          </a:p>
        </p:txBody>
      </p:sp>
      <p:sp>
        <p:nvSpPr>
          <p:cNvPr name="TextBox 16" id="16"/>
          <p:cNvSpPr txBox="true"/>
          <p:nvPr/>
        </p:nvSpPr>
        <p:spPr>
          <a:xfrm rot="0">
            <a:off x="15938341" y="8932545"/>
            <a:ext cx="1306653" cy="325755"/>
          </a:xfrm>
          <a:prstGeom prst="rect">
            <a:avLst/>
          </a:prstGeom>
        </p:spPr>
        <p:txBody>
          <a:bodyPr anchor="t" rtlCol="false" tIns="0" lIns="0" bIns="0" rIns="0">
            <a:spAutoFit/>
          </a:bodyPr>
          <a:lstStyle/>
          <a:p>
            <a:pPr algn="r">
              <a:lnSpc>
                <a:spcPts val="2520"/>
              </a:lnSpc>
            </a:pPr>
            <a:r>
              <a:rPr lang="en-US" sz="1800">
                <a:solidFill>
                  <a:srgbClr val="FFFFFF"/>
                </a:solidFill>
                <a:latin typeface="Poppins"/>
                <a:ea typeface="Poppins"/>
                <a:cs typeface="Poppins"/>
                <a:sym typeface="Poppins"/>
              </a:rPr>
              <a:t>PAGE 06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312896" y="3004458"/>
            <a:ext cx="11301259" cy="1737569"/>
          </a:xfrm>
          <a:custGeom>
            <a:avLst/>
            <a:gdLst/>
            <a:ahLst/>
            <a:cxnLst/>
            <a:rect r="r" b="b" t="t" l="l"/>
            <a:pathLst>
              <a:path h="1737569" w="11301259">
                <a:moveTo>
                  <a:pt x="0" y="0"/>
                </a:moveTo>
                <a:lnTo>
                  <a:pt x="11301259" y="0"/>
                </a:lnTo>
                <a:lnTo>
                  <a:pt x="11301259" y="1737569"/>
                </a:lnTo>
                <a:lnTo>
                  <a:pt x="0" y="1737569"/>
                </a:lnTo>
                <a:lnTo>
                  <a:pt x="0" y="0"/>
                </a:lnTo>
                <a:close/>
              </a:path>
            </a:pathLst>
          </a:custGeom>
          <a:blipFill>
            <a:blip r:embed="rId3"/>
            <a:stretch>
              <a:fillRect l="0" t="0" r="0" b="0"/>
            </a:stretch>
          </a:blipFill>
        </p:spPr>
      </p:sp>
      <p:sp>
        <p:nvSpPr>
          <p:cNvPr name="TextBox 4" id="4"/>
          <p:cNvSpPr txBox="true"/>
          <p:nvPr/>
        </p:nvSpPr>
        <p:spPr>
          <a:xfrm rot="0">
            <a:off x="3312896" y="4869467"/>
            <a:ext cx="11357888" cy="2189840"/>
          </a:xfrm>
          <a:prstGeom prst="rect">
            <a:avLst/>
          </a:prstGeom>
        </p:spPr>
        <p:txBody>
          <a:bodyPr anchor="t" rtlCol="false" tIns="0" lIns="0" bIns="0" rIns="0">
            <a:spAutoFit/>
          </a:bodyPr>
          <a:lstStyle/>
          <a:p>
            <a:pPr algn="just">
              <a:lnSpc>
                <a:spcPts val="4339"/>
              </a:lnSpc>
            </a:pPr>
            <a:r>
              <a:rPr lang="en-US" sz="3099">
                <a:solidFill>
                  <a:srgbClr val="FFFFFF"/>
                </a:solidFill>
                <a:latin typeface="Poppins"/>
                <a:ea typeface="Poppins"/>
                <a:cs typeface="Poppins"/>
                <a:sym typeface="Poppins"/>
              </a:rPr>
              <a:t>Precision là tỷ lệ dự đoán dương đúng trên tổng số dự đoán dương (dương đúng + dương sai). </a:t>
            </a:r>
          </a:p>
          <a:p>
            <a:pPr algn="just">
              <a:lnSpc>
                <a:spcPts val="4339"/>
              </a:lnSpc>
            </a:pPr>
            <a:r>
              <a:rPr lang="en-US" sz="3099">
                <a:solidFill>
                  <a:srgbClr val="FFFFFF"/>
                </a:solidFill>
                <a:latin typeface="Poppins"/>
                <a:ea typeface="Poppins"/>
                <a:cs typeface="Poppins"/>
                <a:sym typeface="Poppins"/>
              </a:rPr>
              <a:t>Chỉ số này cho biết mô hình chính xác đến đâu khi dự đoán đối tượng tồn tại.</a:t>
            </a:r>
          </a:p>
        </p:txBody>
      </p:sp>
      <p:sp>
        <p:nvSpPr>
          <p:cNvPr name="TextBox 5" id="5"/>
          <p:cNvSpPr txBox="true"/>
          <p:nvPr/>
        </p:nvSpPr>
        <p:spPr>
          <a:xfrm rot="0">
            <a:off x="3914435" y="6252648"/>
            <a:ext cx="2061730"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a:t>
            </a:r>
          </a:p>
        </p:txBody>
      </p:sp>
      <p:sp>
        <p:nvSpPr>
          <p:cNvPr name="TextBox 6" id="6"/>
          <p:cNvSpPr txBox="true"/>
          <p:nvPr/>
        </p:nvSpPr>
        <p:spPr>
          <a:xfrm rot="0">
            <a:off x="1028700" y="692150"/>
            <a:ext cx="6676724"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PRECISION (ĐỘ CHÍNH XÁC)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493371" y="2971135"/>
            <a:ext cx="11301259" cy="1921214"/>
          </a:xfrm>
          <a:custGeom>
            <a:avLst/>
            <a:gdLst/>
            <a:ahLst/>
            <a:cxnLst/>
            <a:rect r="r" b="b" t="t" l="l"/>
            <a:pathLst>
              <a:path h="1921214" w="11301259">
                <a:moveTo>
                  <a:pt x="0" y="0"/>
                </a:moveTo>
                <a:lnTo>
                  <a:pt x="11301258" y="0"/>
                </a:lnTo>
                <a:lnTo>
                  <a:pt x="11301258" y="1921214"/>
                </a:lnTo>
                <a:lnTo>
                  <a:pt x="0" y="1921214"/>
                </a:lnTo>
                <a:lnTo>
                  <a:pt x="0" y="0"/>
                </a:lnTo>
                <a:close/>
              </a:path>
            </a:pathLst>
          </a:custGeom>
          <a:blipFill>
            <a:blip r:embed="rId3"/>
            <a:stretch>
              <a:fillRect l="0" t="0" r="0" b="0"/>
            </a:stretch>
          </a:blipFill>
        </p:spPr>
      </p:sp>
      <p:sp>
        <p:nvSpPr>
          <p:cNvPr name="TextBox 4" id="4"/>
          <p:cNvSpPr txBox="true"/>
          <p:nvPr/>
        </p:nvSpPr>
        <p:spPr>
          <a:xfrm rot="0">
            <a:off x="3436250" y="4992613"/>
            <a:ext cx="11358380" cy="1998161"/>
          </a:xfrm>
          <a:prstGeom prst="rect">
            <a:avLst/>
          </a:prstGeom>
        </p:spPr>
        <p:txBody>
          <a:bodyPr anchor="t" rtlCol="false" tIns="0" lIns="0" bIns="0" rIns="0">
            <a:spAutoFit/>
          </a:bodyPr>
          <a:lstStyle/>
          <a:p>
            <a:pPr algn="just">
              <a:lnSpc>
                <a:spcPts val="3978"/>
              </a:lnSpc>
            </a:pPr>
            <a:r>
              <a:rPr lang="en-US" sz="2841">
                <a:solidFill>
                  <a:srgbClr val="FFFFFF"/>
                </a:solidFill>
                <a:latin typeface="Poppins"/>
                <a:ea typeface="Poppins"/>
                <a:cs typeface="Poppins"/>
                <a:sym typeface="Poppins"/>
              </a:rPr>
              <a:t>Recall là tỷ lệ dự đoán dương đúng trên tổng số đối tượng thực tế (dương đúng + âm sai). </a:t>
            </a:r>
          </a:p>
          <a:p>
            <a:pPr algn="just">
              <a:lnSpc>
                <a:spcPts val="3978"/>
              </a:lnSpc>
            </a:pPr>
            <a:r>
              <a:rPr lang="en-US" sz="2841">
                <a:solidFill>
                  <a:srgbClr val="FFFFFF"/>
                </a:solidFill>
                <a:latin typeface="Poppins"/>
                <a:ea typeface="Poppins"/>
                <a:cs typeface="Poppins"/>
                <a:sym typeface="Poppins"/>
              </a:rPr>
              <a:t>Chỉ số này cho biết mô hình có thể tìm được tất cả đối tượng thực tế trong tập dữ liệu tốt đến mức nào.</a:t>
            </a:r>
          </a:p>
        </p:txBody>
      </p:sp>
      <p:sp>
        <p:nvSpPr>
          <p:cNvPr name="TextBox 5" id="5"/>
          <p:cNvSpPr txBox="true"/>
          <p:nvPr/>
        </p:nvSpPr>
        <p:spPr>
          <a:xfrm rot="0">
            <a:off x="3914435" y="6252648"/>
            <a:ext cx="2061730"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a:t>
            </a:r>
          </a:p>
        </p:txBody>
      </p:sp>
      <p:sp>
        <p:nvSpPr>
          <p:cNvPr name="TextBox 6" id="6"/>
          <p:cNvSpPr txBox="true"/>
          <p:nvPr/>
        </p:nvSpPr>
        <p:spPr>
          <a:xfrm rot="0">
            <a:off x="1028700" y="692150"/>
            <a:ext cx="6676724"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RECALL (ĐỘ NHẠY)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083169" y="2172171"/>
            <a:ext cx="10022692" cy="2971329"/>
          </a:xfrm>
          <a:custGeom>
            <a:avLst/>
            <a:gdLst/>
            <a:ahLst/>
            <a:cxnLst/>
            <a:rect r="r" b="b" t="t" l="l"/>
            <a:pathLst>
              <a:path h="2971329" w="10022692">
                <a:moveTo>
                  <a:pt x="0" y="0"/>
                </a:moveTo>
                <a:lnTo>
                  <a:pt x="10022692" y="0"/>
                </a:lnTo>
                <a:lnTo>
                  <a:pt x="10022692" y="2971329"/>
                </a:lnTo>
                <a:lnTo>
                  <a:pt x="0" y="2971329"/>
                </a:lnTo>
                <a:lnTo>
                  <a:pt x="0" y="0"/>
                </a:lnTo>
                <a:close/>
              </a:path>
            </a:pathLst>
          </a:custGeom>
          <a:blipFill>
            <a:blip r:embed="rId3"/>
            <a:stretch>
              <a:fillRect l="0" t="0" r="0" b="0"/>
            </a:stretch>
          </a:blipFill>
        </p:spPr>
      </p:sp>
      <p:sp>
        <p:nvSpPr>
          <p:cNvPr name="TextBox 4" id="4"/>
          <p:cNvSpPr txBox="true"/>
          <p:nvPr/>
        </p:nvSpPr>
        <p:spPr>
          <a:xfrm rot="0">
            <a:off x="3066184" y="5243173"/>
            <a:ext cx="12314000" cy="1902711"/>
          </a:xfrm>
          <a:prstGeom prst="rect">
            <a:avLst/>
          </a:prstGeom>
        </p:spPr>
        <p:txBody>
          <a:bodyPr anchor="t" rtlCol="false" tIns="0" lIns="0" bIns="0" rIns="0">
            <a:spAutoFit/>
          </a:bodyPr>
          <a:lstStyle/>
          <a:p>
            <a:pPr algn="just">
              <a:lnSpc>
                <a:spcPts val="3763"/>
              </a:lnSpc>
            </a:pPr>
            <a:r>
              <a:rPr lang="en-US" sz="2688">
                <a:solidFill>
                  <a:srgbClr val="FFFFFF"/>
                </a:solidFill>
                <a:latin typeface="Poppins"/>
                <a:ea typeface="Poppins"/>
                <a:cs typeface="Poppins"/>
                <a:sym typeface="Poppins"/>
              </a:rPr>
              <a:t>IoU là phép đo độ trùng lặp giữa hộp giới hạn dự đoán và hộp giới hạn thực tế, được tính bằng cách chia diện tích vùng giao nhau cho tổng diện tích của cả hai hộp. Một dự đoán được coi là chính xác nếu IoU của nó với hộp thực tế vượt quá ngưỡng nhất định, thường là 0.5.</a:t>
            </a:r>
          </a:p>
        </p:txBody>
      </p:sp>
      <p:sp>
        <p:nvSpPr>
          <p:cNvPr name="TextBox 5" id="5"/>
          <p:cNvSpPr txBox="true"/>
          <p:nvPr/>
        </p:nvSpPr>
        <p:spPr>
          <a:xfrm rot="0">
            <a:off x="1028700" y="692150"/>
            <a:ext cx="6676724"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INTERSECTION OVER UNION (IOU)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750594" y="2533434"/>
            <a:ext cx="10786811" cy="2384102"/>
          </a:xfrm>
          <a:custGeom>
            <a:avLst/>
            <a:gdLst/>
            <a:ahLst/>
            <a:cxnLst/>
            <a:rect r="r" b="b" t="t" l="l"/>
            <a:pathLst>
              <a:path h="2384102" w="10786811">
                <a:moveTo>
                  <a:pt x="0" y="0"/>
                </a:moveTo>
                <a:lnTo>
                  <a:pt x="10786812" y="0"/>
                </a:lnTo>
                <a:lnTo>
                  <a:pt x="10786812" y="2384102"/>
                </a:lnTo>
                <a:lnTo>
                  <a:pt x="0" y="2384102"/>
                </a:lnTo>
                <a:lnTo>
                  <a:pt x="0" y="0"/>
                </a:lnTo>
                <a:close/>
              </a:path>
            </a:pathLst>
          </a:custGeom>
          <a:blipFill>
            <a:blip r:embed="rId3"/>
            <a:stretch>
              <a:fillRect l="0" t="0" r="0" b="0"/>
            </a:stretch>
          </a:blipFill>
        </p:spPr>
      </p:sp>
      <p:sp>
        <p:nvSpPr>
          <p:cNvPr name="TextBox 4" id="4"/>
          <p:cNvSpPr txBox="true"/>
          <p:nvPr/>
        </p:nvSpPr>
        <p:spPr>
          <a:xfrm rot="0">
            <a:off x="4945300" y="6660635"/>
            <a:ext cx="9160561" cy="1063625"/>
          </a:xfrm>
          <a:prstGeom prst="rect">
            <a:avLst/>
          </a:prstGeom>
        </p:spPr>
        <p:txBody>
          <a:bodyPr anchor="t" rtlCol="false" tIns="0" lIns="0" bIns="0" rIns="0">
            <a:spAutoFit/>
          </a:bodyPr>
          <a:lstStyle/>
          <a:p>
            <a:pPr algn="just">
              <a:lnSpc>
                <a:spcPts val="2799"/>
              </a:lnSpc>
            </a:pPr>
            <a:r>
              <a:rPr lang="en-US" sz="1999">
                <a:solidFill>
                  <a:srgbClr val="FFFFFF"/>
                </a:solidFill>
                <a:latin typeface="Poppins"/>
                <a:ea typeface="Poppins"/>
                <a:cs typeface="Poppins"/>
                <a:sym typeface="Poppins"/>
              </a:rPr>
              <a:t>mAP@50 là trung bình chính xác trung bình được tính ở một ngưỡng IoU duy nhất là 0.5. Nghĩa là, một phát hiện được coi là đúng nếu IoU giữa hộp giới hạn dự đoán và hộp thực tế lớn hơn hoặc bằng 0.5. </a:t>
            </a:r>
          </a:p>
        </p:txBody>
      </p:sp>
      <p:sp>
        <p:nvSpPr>
          <p:cNvPr name="TextBox 5" id="5"/>
          <p:cNvSpPr txBox="true"/>
          <p:nvPr/>
        </p:nvSpPr>
        <p:spPr>
          <a:xfrm rot="0">
            <a:off x="2719729" y="6755885"/>
            <a:ext cx="2061730"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MAP@50</a:t>
            </a:r>
          </a:p>
        </p:txBody>
      </p:sp>
      <p:sp>
        <p:nvSpPr>
          <p:cNvPr name="TextBox 6" id="6"/>
          <p:cNvSpPr txBox="true"/>
          <p:nvPr/>
        </p:nvSpPr>
        <p:spPr>
          <a:xfrm rot="0">
            <a:off x="1028700" y="692150"/>
            <a:ext cx="11265936"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MAP@50 (MEAN AVERAGE PRECISION TẠI IOU 0.5)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493371" y="3237440"/>
            <a:ext cx="11301259" cy="2316758"/>
          </a:xfrm>
          <a:custGeom>
            <a:avLst/>
            <a:gdLst/>
            <a:ahLst/>
            <a:cxnLst/>
            <a:rect r="r" b="b" t="t" l="l"/>
            <a:pathLst>
              <a:path h="2316758" w="11301259">
                <a:moveTo>
                  <a:pt x="0" y="0"/>
                </a:moveTo>
                <a:lnTo>
                  <a:pt x="11301258" y="0"/>
                </a:lnTo>
                <a:lnTo>
                  <a:pt x="11301258" y="2316758"/>
                </a:lnTo>
                <a:lnTo>
                  <a:pt x="0" y="2316758"/>
                </a:lnTo>
                <a:lnTo>
                  <a:pt x="0" y="0"/>
                </a:lnTo>
                <a:close/>
              </a:path>
            </a:pathLst>
          </a:custGeom>
          <a:blipFill>
            <a:blip r:embed="rId3"/>
            <a:stretch>
              <a:fillRect l="0" t="0" r="0" b="0"/>
            </a:stretch>
          </a:blipFill>
        </p:spPr>
      </p:sp>
      <p:sp>
        <p:nvSpPr>
          <p:cNvPr name="TextBox 4" id="4"/>
          <p:cNvSpPr txBox="true"/>
          <p:nvPr/>
        </p:nvSpPr>
        <p:spPr>
          <a:xfrm rot="0">
            <a:off x="2742801" y="5661912"/>
            <a:ext cx="12566560" cy="1949698"/>
          </a:xfrm>
          <a:prstGeom prst="rect">
            <a:avLst/>
          </a:prstGeom>
        </p:spPr>
        <p:txBody>
          <a:bodyPr anchor="t" rtlCol="false" tIns="0" lIns="0" bIns="0" rIns="0">
            <a:spAutoFit/>
          </a:bodyPr>
          <a:lstStyle/>
          <a:p>
            <a:pPr algn="just">
              <a:lnSpc>
                <a:spcPts val="3841"/>
              </a:lnSpc>
            </a:pPr>
            <a:r>
              <a:rPr lang="en-US" sz="2743">
                <a:solidFill>
                  <a:srgbClr val="FFFFFF"/>
                </a:solidFill>
                <a:latin typeface="Poppins"/>
                <a:ea typeface="Poppins"/>
                <a:cs typeface="Poppins"/>
                <a:sym typeface="Poppins"/>
              </a:rPr>
              <a:t>mAP@50-95 cung cấp đánh giá chi tiết hơn về hiệu suất của mô hình trên các ngưỡng IoU khác nhau. Nó được tính bằng cách trung bình các giá trị AP ở nhiều ngưỡng IoU, từ 0.5 đến 0.95 với bước 0.05. Chỉ số này quan trọng trong các ứng dụng cần xác định chính xác vị trí đối tượng.</a:t>
            </a:r>
          </a:p>
        </p:txBody>
      </p:sp>
      <p:sp>
        <p:nvSpPr>
          <p:cNvPr name="TextBox 5" id="5"/>
          <p:cNvSpPr txBox="true"/>
          <p:nvPr/>
        </p:nvSpPr>
        <p:spPr>
          <a:xfrm rot="0">
            <a:off x="1028700" y="692150"/>
            <a:ext cx="11343283"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MAP@50-95 (MEAN AVERAGE PRECISION TẠI IOU TỪ 0.5 ĐẾN 0.95)</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493371" y="1834740"/>
            <a:ext cx="11301259" cy="2895948"/>
          </a:xfrm>
          <a:custGeom>
            <a:avLst/>
            <a:gdLst/>
            <a:ahLst/>
            <a:cxnLst/>
            <a:rect r="r" b="b" t="t" l="l"/>
            <a:pathLst>
              <a:path h="2895948" w="11301259">
                <a:moveTo>
                  <a:pt x="0" y="0"/>
                </a:moveTo>
                <a:lnTo>
                  <a:pt x="11301258" y="0"/>
                </a:lnTo>
                <a:lnTo>
                  <a:pt x="11301258" y="2895947"/>
                </a:lnTo>
                <a:lnTo>
                  <a:pt x="0" y="2895947"/>
                </a:lnTo>
                <a:lnTo>
                  <a:pt x="0" y="0"/>
                </a:lnTo>
                <a:close/>
              </a:path>
            </a:pathLst>
          </a:custGeom>
          <a:blipFill>
            <a:blip r:embed="rId3"/>
            <a:stretch>
              <a:fillRect l="0" t="0" r="0" b="0"/>
            </a:stretch>
          </a:blipFill>
        </p:spPr>
      </p:sp>
      <p:sp>
        <p:nvSpPr>
          <p:cNvPr name="TextBox 4" id="4"/>
          <p:cNvSpPr txBox="true"/>
          <p:nvPr/>
        </p:nvSpPr>
        <p:spPr>
          <a:xfrm rot="0">
            <a:off x="6614614" y="5944978"/>
            <a:ext cx="10644686" cy="2455570"/>
          </a:xfrm>
          <a:prstGeom prst="rect">
            <a:avLst/>
          </a:prstGeom>
        </p:spPr>
        <p:txBody>
          <a:bodyPr anchor="t" rtlCol="false" tIns="0" lIns="0" bIns="0" rIns="0">
            <a:spAutoFit/>
          </a:bodyPr>
          <a:lstStyle/>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hình ảnh: 48 </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đối tượng: 567</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Độ chính xác (P): 0.999</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Tỷ lệ hồi tưởng (R): 1</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 0.995</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mAP@50-95: 0.895 </a:t>
            </a:r>
          </a:p>
        </p:txBody>
      </p:sp>
      <p:sp>
        <p:nvSpPr>
          <p:cNvPr name="TextBox 5" id="5"/>
          <p:cNvSpPr txBox="true"/>
          <p:nvPr/>
        </p:nvSpPr>
        <p:spPr>
          <a:xfrm rot="0">
            <a:off x="6614614" y="5217182"/>
            <a:ext cx="4237836"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HIỆU SUẤT TỔNG THỂ</a:t>
            </a:r>
          </a:p>
        </p:txBody>
      </p:sp>
      <p:sp>
        <p:nvSpPr>
          <p:cNvPr name="TextBox 6" id="6"/>
          <p:cNvSpPr txBox="true"/>
          <p:nvPr/>
        </p:nvSpPr>
        <p:spPr>
          <a:xfrm rot="0">
            <a:off x="1028700" y="692150"/>
            <a:ext cx="11343283"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VÍ DỤ KẾT QUẢ ĐÁNH GIÁ MÔ HÌNH YOLO </a:t>
            </a:r>
          </a:p>
        </p:txBody>
      </p:sp>
      <p:sp>
        <p:nvSpPr>
          <p:cNvPr name="TextBox 7" id="7"/>
          <p:cNvSpPr txBox="true"/>
          <p:nvPr/>
        </p:nvSpPr>
        <p:spPr>
          <a:xfrm rot="0">
            <a:off x="2978147" y="6864788"/>
            <a:ext cx="4237836"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TẤT CẢ CÁC LỚP: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493371" y="1834740"/>
            <a:ext cx="11301259" cy="2895948"/>
          </a:xfrm>
          <a:custGeom>
            <a:avLst/>
            <a:gdLst/>
            <a:ahLst/>
            <a:cxnLst/>
            <a:rect r="r" b="b" t="t" l="l"/>
            <a:pathLst>
              <a:path h="2895948" w="11301259">
                <a:moveTo>
                  <a:pt x="0" y="0"/>
                </a:moveTo>
                <a:lnTo>
                  <a:pt x="11301258" y="0"/>
                </a:lnTo>
                <a:lnTo>
                  <a:pt x="11301258" y="2895947"/>
                </a:lnTo>
                <a:lnTo>
                  <a:pt x="0" y="2895947"/>
                </a:lnTo>
                <a:lnTo>
                  <a:pt x="0" y="0"/>
                </a:lnTo>
                <a:close/>
              </a:path>
            </a:pathLst>
          </a:custGeom>
          <a:blipFill>
            <a:blip r:embed="rId3"/>
            <a:stretch>
              <a:fillRect l="0" t="0" r="0" b="0"/>
            </a:stretch>
          </a:blipFill>
        </p:spPr>
      </p:sp>
      <p:sp>
        <p:nvSpPr>
          <p:cNvPr name="TextBox 4" id="4"/>
          <p:cNvSpPr txBox="true"/>
          <p:nvPr/>
        </p:nvSpPr>
        <p:spPr>
          <a:xfrm rot="0">
            <a:off x="2041611" y="6766582"/>
            <a:ext cx="4096035" cy="2455570"/>
          </a:xfrm>
          <a:prstGeom prst="rect">
            <a:avLst/>
          </a:prstGeom>
        </p:spPr>
        <p:txBody>
          <a:bodyPr anchor="t" rtlCol="false" tIns="0" lIns="0" bIns="0" rIns="0">
            <a:spAutoFit/>
          </a:bodyPr>
          <a:lstStyle/>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hình ảnh: 40 </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đối tượng: 290</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Độ chính xác (P): 0.999</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Tỷ lệ hồi tưởng (R): 1</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 0.995</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mAP@50-95: 0.842</a:t>
            </a:r>
          </a:p>
        </p:txBody>
      </p:sp>
      <p:sp>
        <p:nvSpPr>
          <p:cNvPr name="TextBox 5" id="5"/>
          <p:cNvSpPr txBox="true"/>
          <p:nvPr/>
        </p:nvSpPr>
        <p:spPr>
          <a:xfrm rot="0">
            <a:off x="7146441" y="5243552"/>
            <a:ext cx="4237836"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HIỆU SUẤT THEO LỚP</a:t>
            </a:r>
          </a:p>
        </p:txBody>
      </p:sp>
      <p:sp>
        <p:nvSpPr>
          <p:cNvPr name="TextBox 6" id="6"/>
          <p:cNvSpPr txBox="true"/>
          <p:nvPr/>
        </p:nvSpPr>
        <p:spPr>
          <a:xfrm rot="0">
            <a:off x="1028700" y="692150"/>
            <a:ext cx="11343283"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VÍ DỤ KẾT QUẢ ĐÁNH GIÁ MÔ HÌNH YOLO </a:t>
            </a:r>
          </a:p>
        </p:txBody>
      </p:sp>
      <p:sp>
        <p:nvSpPr>
          <p:cNvPr name="TextBox 7" id="7"/>
          <p:cNvSpPr txBox="true"/>
          <p:nvPr/>
        </p:nvSpPr>
        <p:spPr>
          <a:xfrm rot="0">
            <a:off x="2476637" y="6039507"/>
            <a:ext cx="4237836"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XE MÁY ("XE MAY"): </a:t>
            </a:r>
          </a:p>
        </p:txBody>
      </p:sp>
      <p:sp>
        <p:nvSpPr>
          <p:cNvPr name="TextBox 8" id="8"/>
          <p:cNvSpPr txBox="true"/>
          <p:nvPr/>
        </p:nvSpPr>
        <p:spPr>
          <a:xfrm rot="0">
            <a:off x="7146441" y="6812002"/>
            <a:ext cx="4096035" cy="2455570"/>
          </a:xfrm>
          <a:prstGeom prst="rect">
            <a:avLst/>
          </a:prstGeom>
        </p:spPr>
        <p:txBody>
          <a:bodyPr anchor="t" rtlCol="false" tIns="0" lIns="0" bIns="0" rIns="0">
            <a:spAutoFit/>
          </a:bodyPr>
          <a:lstStyle/>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hình ảnh: 47</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đối tượng: 241</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Độ chính xác (P): 0.999</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Tỷ lệ hồi tưởng (R): 1</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 0.995</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mAP@50-95: 0.912</a:t>
            </a:r>
          </a:p>
        </p:txBody>
      </p:sp>
      <p:sp>
        <p:nvSpPr>
          <p:cNvPr name="TextBox 9" id="9"/>
          <p:cNvSpPr txBox="true"/>
          <p:nvPr/>
        </p:nvSpPr>
        <p:spPr>
          <a:xfrm rot="0">
            <a:off x="7581467" y="6075402"/>
            <a:ext cx="4237836"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Ô TÔ ("OTO"): </a:t>
            </a:r>
          </a:p>
        </p:txBody>
      </p:sp>
      <p:sp>
        <p:nvSpPr>
          <p:cNvPr name="TextBox 10" id="10"/>
          <p:cNvSpPr txBox="true"/>
          <p:nvPr/>
        </p:nvSpPr>
        <p:spPr>
          <a:xfrm rot="0">
            <a:off x="12251271" y="6838371"/>
            <a:ext cx="4096035" cy="2455570"/>
          </a:xfrm>
          <a:prstGeom prst="rect">
            <a:avLst/>
          </a:prstGeom>
        </p:spPr>
        <p:txBody>
          <a:bodyPr anchor="t" rtlCol="false" tIns="0" lIns="0" bIns="0" rIns="0">
            <a:spAutoFit/>
          </a:bodyPr>
          <a:lstStyle/>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hình ảnh: 31</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Số lượng đối tượng: 36 </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Độ chính xác (P): 0.998</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Tỷ lệ hồi tưởng (R): 1</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 0.995</a:t>
            </a:r>
          </a:p>
          <a:p>
            <a:pPr algn="just" marL="501755" indent="-250878" lvl="1">
              <a:lnSpc>
                <a:spcPts val="3253"/>
              </a:lnSpc>
              <a:buFont typeface="Arial"/>
              <a:buChar char="•"/>
            </a:pPr>
            <a:r>
              <a:rPr lang="en-US" sz="2324">
                <a:solidFill>
                  <a:srgbClr val="FFFFFF"/>
                </a:solidFill>
                <a:latin typeface="Poppins"/>
                <a:ea typeface="Poppins"/>
                <a:cs typeface="Poppins"/>
                <a:sym typeface="Poppins"/>
              </a:rPr>
              <a:t>mAP@50-95: 0.93</a:t>
            </a:r>
          </a:p>
        </p:txBody>
      </p:sp>
      <p:sp>
        <p:nvSpPr>
          <p:cNvPr name="TextBox 11" id="11"/>
          <p:cNvSpPr txBox="true"/>
          <p:nvPr/>
        </p:nvSpPr>
        <p:spPr>
          <a:xfrm rot="0">
            <a:off x="12686297" y="6111296"/>
            <a:ext cx="4237836" cy="336550"/>
          </a:xfrm>
          <a:prstGeom prst="rect">
            <a:avLst/>
          </a:prstGeom>
        </p:spPr>
        <p:txBody>
          <a:bodyPr anchor="t" rtlCol="false" tIns="0" lIns="0" bIns="0" rIns="0">
            <a:spAutoFit/>
          </a:bodyPr>
          <a:lstStyle/>
          <a:p>
            <a:pPr algn="l">
              <a:lnSpc>
                <a:spcPts val="2524"/>
              </a:lnSpc>
            </a:pPr>
            <a:r>
              <a:rPr lang="en-US" sz="2499" b="true">
                <a:solidFill>
                  <a:srgbClr val="FFFFFF"/>
                </a:solidFill>
                <a:latin typeface="Garet Bold"/>
                <a:ea typeface="Garet Bold"/>
                <a:cs typeface="Garet Bold"/>
                <a:sym typeface="Garet Bold"/>
              </a:rPr>
              <a:t>XE BUÝT ("XE BUS"):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550950" y="4820001"/>
            <a:ext cx="11343283" cy="742247"/>
          </a:xfrm>
          <a:prstGeom prst="rect">
            <a:avLst/>
          </a:prstGeom>
        </p:spPr>
        <p:txBody>
          <a:bodyPr anchor="t" rtlCol="false" tIns="0" lIns="0" bIns="0" rIns="0">
            <a:spAutoFit/>
          </a:bodyPr>
          <a:lstStyle/>
          <a:p>
            <a:pPr algn="l">
              <a:lnSpc>
                <a:spcPts val="5554"/>
              </a:lnSpc>
            </a:pPr>
            <a:r>
              <a:rPr lang="en-US" sz="5499" b="true">
                <a:solidFill>
                  <a:srgbClr val="FFFFFF"/>
                </a:solidFill>
                <a:latin typeface="Garet Bold"/>
                <a:ea typeface="Garet Bold"/>
                <a:cs typeface="Garet Bold"/>
                <a:sym typeface="Garet Bold"/>
              </a:rPr>
              <a:t>DEMO CHƯƠNG TRÌNH</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rcRect l="0" t="0" r="0" b="0"/>
          <a:stretch>
            <a:fillRect/>
          </a:stretch>
        </p:blipFill>
        <p:spPr>
          <a:xfrm flipH="false" flipV="false" rot="0">
            <a:off x="-255985" y="-2180105"/>
            <a:ext cx="9400859" cy="5264481"/>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9144874" y="-2180105"/>
            <a:ext cx="9400859" cy="5264481"/>
          </a:xfrm>
          <a:prstGeom prst="rect">
            <a:avLst/>
          </a:prstGeom>
        </p:spPr>
      </p:pic>
      <p:sp>
        <p:nvSpPr>
          <p:cNvPr name="TextBox 5" id="5"/>
          <p:cNvSpPr txBox="true"/>
          <p:nvPr/>
        </p:nvSpPr>
        <p:spPr>
          <a:xfrm rot="0">
            <a:off x="5466962" y="3747860"/>
            <a:ext cx="7354075" cy="3000830"/>
          </a:xfrm>
          <a:prstGeom prst="rect">
            <a:avLst/>
          </a:prstGeom>
        </p:spPr>
        <p:txBody>
          <a:bodyPr anchor="t" rtlCol="false" tIns="0" lIns="0" bIns="0" rIns="0">
            <a:spAutoFit/>
          </a:bodyPr>
          <a:lstStyle/>
          <a:p>
            <a:pPr algn="ctr">
              <a:lnSpc>
                <a:spcPts val="11580"/>
              </a:lnSpc>
            </a:pPr>
            <a:r>
              <a:rPr lang="en-US" b="true" sz="11466">
                <a:solidFill>
                  <a:srgbClr val="FFFFFF"/>
                </a:solidFill>
                <a:latin typeface="Garet Bold"/>
                <a:ea typeface="Garet Bold"/>
                <a:cs typeface="Garet Bold"/>
                <a:sym typeface="Garet Bold"/>
              </a:rPr>
              <a:t>THANK</a:t>
            </a:r>
          </a:p>
          <a:p>
            <a:pPr algn="ctr">
              <a:lnSpc>
                <a:spcPts val="11580"/>
              </a:lnSpc>
            </a:pPr>
            <a:r>
              <a:rPr lang="en-US" b="true" sz="11466">
                <a:solidFill>
                  <a:srgbClr val="FFFFFF"/>
                </a:solidFill>
                <a:latin typeface="Garet Bold"/>
                <a:ea typeface="Garet Bold"/>
                <a:cs typeface="Garet Bold"/>
                <a:sym typeface="Garet Bold"/>
              </a:rPr>
              <a:t>YOU</a:t>
            </a:r>
          </a:p>
        </p:txBody>
      </p:sp>
      <p:pic>
        <p:nvPicPr>
          <p:cNvPr name="Picture 6" id="6"/>
          <p:cNvPicPr>
            <a:picLocks noChangeAspect="true"/>
          </p:cNvPicPr>
          <p:nvPr/>
        </p:nvPicPr>
        <p:blipFill>
          <a:blip r:embed="rId3"/>
          <a:srcRect l="0" t="0" r="0" b="0"/>
          <a:stretch>
            <a:fillRect/>
          </a:stretch>
        </p:blipFill>
        <p:spPr>
          <a:xfrm flipH="false" flipV="false" rot="-10798857">
            <a:off x="9144000" y="7201062"/>
            <a:ext cx="9400859" cy="5264481"/>
          </a:xfrm>
          <a:prstGeom prst="rect">
            <a:avLst/>
          </a:prstGeom>
        </p:spPr>
      </p:pic>
      <p:pic>
        <p:nvPicPr>
          <p:cNvPr name="Picture 7" id="7"/>
          <p:cNvPicPr>
            <a:picLocks noChangeAspect="true"/>
          </p:cNvPicPr>
          <p:nvPr/>
        </p:nvPicPr>
        <p:blipFill>
          <a:blip r:embed="rId3"/>
          <a:srcRect l="0" t="0" r="0" b="0"/>
          <a:stretch>
            <a:fillRect/>
          </a:stretch>
        </p:blipFill>
        <p:spPr>
          <a:xfrm flipH="false" flipV="false" rot="-10798857">
            <a:off x="-256859" y="7197939"/>
            <a:ext cx="9400859" cy="526448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DAGivnKKenY</dc:identifier>
  <dcterms:modified xsi:type="dcterms:W3CDTF">2011-08-01T06:04:30Z</dcterms:modified>
  <cp:revision>1</cp:revision>
  <dc:title>HTTTQL - Nhóm 11</dc:title>
</cp:coreProperties>
</file>